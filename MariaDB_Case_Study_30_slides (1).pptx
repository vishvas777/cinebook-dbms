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b24342-144f-0bdf-cf35-02338953ad47}">
          <p14:sldIdLst>
            <p14:sldId id="256"/>
          </p14:sldIdLst>
        </p14:section>
        <p14:section name="History" id="{1ae7d6c5-bcd7-8f60-67da-4b485843a34d}">
          <p14:sldIdLst>
            <p14:sldId id="257"/>
            <p14:sldId id="258"/>
            <p14:sldId id="259"/>
          </p14:sldIdLst>
        </p14:section>
        <p14:section name="Data Model" id="{e035ed80-02cb-dcc4-a385-ec90afc52dd1}">
          <p14:sldIdLst>
            <p14:sldId id="260"/>
            <p14:sldId id="261"/>
          </p14:sldIdLst>
        </p14:section>
        <p14:section name="Architecture" id="{15328b2b-dd39-8f24-ff88-aa8b1dbe276e}">
          <p14:sldIdLst>
            <p14:sldId id="262"/>
            <p14:sldId id="263"/>
          </p14:sldIdLst>
        </p14:section>
        <p14:section name="Storage Engines" id="{a01980bd-8fe3-4bd6-9d98-048780867f94}">
          <p14:sldIdLst>
            <p14:sldId id="264"/>
            <p14:sldId id="265"/>
          </p14:sldIdLst>
        </p14:section>
        <p14:section name="Indexing" id="{4b552179-844c-29b5-0a37-0ec34cecbbcf}">
          <p14:sldIdLst>
            <p14:sldId id="266"/>
            <p14:sldId id="267"/>
          </p14:sldIdLst>
        </p14:section>
        <p14:section name="Transactions" id="{0c44266f-9b5c-60ad-7f1f-c5dbaf9afb50}">
          <p14:sldIdLst>
            <p14:sldId id="268"/>
            <p14:sldId id="269"/>
          </p14:sldIdLst>
        </p14:section>
        <p14:section name="Replication" id="{4e0b96af-12be-5c13-fecb-0f0ada5aa4d8}">
          <p14:sldIdLst>
            <p14:sldId id="270"/>
            <p14:sldId id="271"/>
          </p14:sldIdLst>
        </p14:section>
        <p14:section name="Features" id="{bf69ee4b-3fe1-1dc6-4dab-9d2b639d007d}">
          <p14:sldIdLst>
            <p14:sldId id="272"/>
            <p14:sldId id="273"/>
          </p14:sldIdLst>
        </p14:section>
        <p14:section name="Comparison" id="{500316b1-07a4-1e15-22b0-5208dbda0fe6}">
          <p14:sldIdLst>
            <p14:sldId id="274"/>
          </p14:sldIdLst>
        </p14:section>
        <p14:section name="Strengths and Limits" id="{ecbb01df-111a-79a0-1574-dcf97a414b89}">
          <p14:sldIdLst>
            <p14:sldId id="275"/>
            <p14:sldId id="276"/>
          </p14:sldIdLst>
        </p14:section>
        <p14:section name="Applications" id="{6e210ea7-81ad-200a-fcf1-4839f5829348}">
          <p14:sldIdLst>
            <p14:sldId id="277"/>
            <p14:sldId id="278"/>
          </p14:sldIdLst>
        </p14:section>
        <p14:section name="Practical SQL" id="{0e226f50-65d8-05a9-b7af-fded10292bc1}">
          <p14:sldIdLst>
            <p14:sldId id="279"/>
            <p14:sldId id="280"/>
          </p14:sldIdLst>
        </p14:section>
        <p14:section name="Joins" id="{1f035493-5338-accc-8075-438283d213ce}">
          <p14:sldIdLst>
            <p14:sldId id="281"/>
            <p14:sldId id="282"/>
          </p14:sldIdLst>
        </p14:section>
        <p14:section name="Performance" id="{aadae240-f643-308d-7942-de6b8bc81d92}">
          <p14:sldIdLst>
            <p14:sldId id="283"/>
          </p14:sldIdLst>
        </p14:section>
        <p14:section name="Future" id="{41299d67-19bd-1021-b4ba-a6949af04b28}">
          <p14:sldIdLst>
            <p14:sldId id="284"/>
          </p14:sldIdLst>
        </p14:section>
        <p14:section name="Conclusion" id="{27c18419-3942-22bd-8bb1-d8931c0b1726}">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5669280" cy="17373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ph idx="101" type="body" hasCustomPrompt="1"/>
          </p:nvPr>
        </p:nvSpPr>
        <p:spPr>
          <a:xfrm>
            <a:off x="731520" y="3017520"/>
            <a:ext cx="5669280" cy="91440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5669280" cy="1737360"/>
          </a:xfrm>
          <a:prstGeom prst="rect">
            <a:avLst/>
          </a:prstGeom>
          <a:noFill/>
          <a:ln/>
        </p:spPr>
        <p:txBody>
          <a:bodyPr wrap="square" rtlCol="0" anchor="b"/>
          <a:lstStyle/>
          <a:p>
            <a:pPr algn="l" indent="0" marL="0">
              <a:buNone/>
            </a:pPr>
            <a:r>
              <a:rPr lang="en-US" sz="3600" b="1" dirty="0">
                <a:solidFill>
                  <a:schemeClr val="tx2"/>
                </a:solidFill>
              </a:rPr>
              <a:t>MariaDB Database Management System</a:t>
            </a:r>
            <a:endParaRPr lang="en-US" sz="3600" dirty="0"/>
          </a:p>
        </p:txBody>
      </p:sp>
      <p:sp>
        <p:nvSpPr>
          <p:cNvPr id="3" name="Text 0"/>
          <p:cNvSpPr/>
          <p:nvPr>
            <p:ph idx="101" type="body" hasCustomPrompt="1"/>
          </p:nvPr>
        </p:nvSpPr>
        <p:spPr>
          <a:xfrm>
            <a:off x="731520" y="3017520"/>
            <a:ext cx="5669280" cy="914400"/>
          </a:xfrm>
          <a:prstGeom prst="rect">
            <a:avLst/>
          </a:prstGeom>
          <a:noFill/>
          <a:ln/>
        </p:spPr>
        <p:txBody>
          <a:bodyPr wrap="square" rtlCol="0" anchor="t"/>
          <a:lstStyle/>
          <a:p>
            <a:pPr algn="l" indent="0" marL="0">
              <a:buNone/>
            </a:pPr>
            <a:r>
              <a:rPr lang="en-US" sz="2000" dirty="0">
                <a:solidFill>
                  <a:schemeClr val="tx1"/>
                </a:solidFill>
              </a:rPr>
              <a:t>Case Study: history, architecture, features, SQL practical and future trends</a:t>
            </a:r>
            <a:endParaRPr lang="en-US" sz="2000" dirty="0"/>
          </a:p>
        </p:txBody>
      </p:sp>
      <p:pic>
        <p:nvPicPr>
          <p:cNvPr id="4" name="Image 0" descr="MariaDB logo">    </p:cNvPr>
          <p:cNvPicPr>
            <a:picLocks noChangeAspect="1"/>
          </p:cNvPicPr>
          <p:nvPr/>
        </p:nvPicPr>
        <p:blipFill>
          <a:blip r:embed="rId1"/>
          <a:stretch>
            <a:fillRect/>
          </a:stretch>
        </p:blipFill>
        <p:spPr>
          <a:xfrm>
            <a:off x="6875417" y="1371600"/>
            <a:ext cx="1611086" cy="2011680"/>
          </a:xfrm>
          <a:prstGeom prst="rect">
            <a:avLst/>
          </a:prstGeom>
        </p:spPr>
      </p:pic>
      <p:sp>
        <p:nvSpPr>
          <p:cNvPr id="5" name="Text 2"/>
          <p:cNvSpPr txBox="1"/>
          <p:nvPr/>
        </p:nvSpPr>
        <p:spPr>
          <a:xfrm>
            <a:off x="457200" y="4160520"/>
            <a:ext cx="2651760" cy="548640"/>
          </a:xfrm>
          <a:prstGeom prst="rect">
            <a:avLst/>
          </a:prstGeom>
          <a:noFill/>
          <a:ln/>
        </p:spPr>
        <p:txBody>
          <a:bodyPr wrap="square" lIns="25400" tIns="25400" rIns="25400" bIns="25400" rtlCol="0" anchor="t"/>
          <a:lstStyle/>
          <a:p>
            <a:pPr indent="0" marL="0">
              <a:buNone/>
            </a:pPr>
            <a:r>
              <a:rPr lang="en-US" sz="1300" b="1" dirty="0">
                <a:solidFill>
                  <a:schemeClr val="tx1"/>
                </a:solidFill>
              </a:rPr>
              <a:t>G. Heamanth kumar reddy</a:t>
            </a:r>
            <a:endParaRPr lang="en-US" sz="1300" dirty="0"/>
          </a:p>
          <a:p>
            <a:pPr indent="0" marL="0">
              <a:buNone/>
            </a:pPr>
            <a:r>
              <a:rPr lang="en-US" sz="1200" dirty="0">
                <a:solidFill>
                  <a:schemeClr val="tx1"/>
                </a:solidFill>
              </a:rPr>
              <a:t>CB.SC.U4CSE25713</a:t>
            </a:r>
            <a:endParaRPr lang="en-US" sz="1300" dirty="0"/>
          </a:p>
        </p:txBody>
      </p:sp>
      <p:sp>
        <p:nvSpPr>
          <p:cNvPr id="6" name="Text 3"/>
          <p:cNvSpPr txBox="1"/>
          <p:nvPr/>
        </p:nvSpPr>
        <p:spPr>
          <a:xfrm>
            <a:off x="3200400" y="4160520"/>
            <a:ext cx="2651760" cy="548640"/>
          </a:xfrm>
          <a:prstGeom prst="rect">
            <a:avLst/>
          </a:prstGeom>
          <a:noFill/>
          <a:ln/>
        </p:spPr>
        <p:txBody>
          <a:bodyPr wrap="square" lIns="25400" tIns="25400" rIns="25400" bIns="25400" rtlCol="0" anchor="t"/>
          <a:lstStyle/>
          <a:p>
            <a:pPr indent="0" marL="0">
              <a:buNone/>
            </a:pPr>
            <a:r>
              <a:rPr lang="en-US" sz="1300" b="1" dirty="0">
                <a:solidFill>
                  <a:schemeClr val="tx1"/>
                </a:solidFill>
              </a:rPr>
              <a:t>SAI VISWAS</a:t>
            </a:r>
            <a:endParaRPr lang="en-US" sz="1300" dirty="0"/>
          </a:p>
          <a:p>
            <a:pPr indent="0" marL="0">
              <a:buNone/>
            </a:pPr>
            <a:r>
              <a:rPr lang="en-US" sz="1200" dirty="0">
                <a:solidFill>
                  <a:schemeClr val="tx1"/>
                </a:solidFill>
              </a:rPr>
              <a:t>CB.SC.U4CSE25762</a:t>
            </a:r>
            <a:endParaRPr lang="en-US" sz="1300" dirty="0"/>
          </a:p>
        </p:txBody>
      </p:sp>
      <p:sp>
        <p:nvSpPr>
          <p:cNvPr id="7" name="Text 4"/>
          <p:cNvSpPr txBox="1"/>
          <p:nvPr/>
        </p:nvSpPr>
        <p:spPr>
          <a:xfrm>
            <a:off x="5943600" y="4160520"/>
            <a:ext cx="2651760" cy="548640"/>
          </a:xfrm>
          <a:prstGeom prst="rect">
            <a:avLst/>
          </a:prstGeom>
          <a:noFill/>
          <a:ln/>
        </p:spPr>
        <p:txBody>
          <a:bodyPr wrap="square" lIns="25400" tIns="25400" rIns="25400" bIns="25400" rtlCol="0" anchor="t"/>
          <a:lstStyle/>
          <a:p>
            <a:pPr indent="0" marL="0">
              <a:buNone/>
            </a:pPr>
            <a:r>
              <a:rPr lang="en-US" sz="1300" b="1" dirty="0">
                <a:solidFill>
                  <a:schemeClr val="tx1"/>
                </a:solidFill>
              </a:rPr>
              <a:t>P.G ROHIT</a:t>
            </a:r>
            <a:endParaRPr lang="en-US" sz="1300" dirty="0"/>
          </a:p>
          <a:p>
            <a:pPr indent="0" marL="0">
              <a:buNone/>
            </a:pPr>
            <a:r>
              <a:rPr lang="en-US" sz="1200" dirty="0">
                <a:solidFill>
                  <a:schemeClr val="tx1"/>
                </a:solidFill>
              </a:rPr>
              <a:t>CB.SC.U4CSE25738</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History: MySQL, Sun and Oracle</a:t>
            </a:r>
            <a:endParaRPr lang="en-US" sz="3000" dirty="0"/>
          </a:p>
        </p:txBody>
      </p:sp>
      <p:sp>
        <p:nvSpPr>
          <p:cNvPr id="3" name="Text 1"/>
          <p:cNvSpPr/>
          <p:nvPr/>
        </p:nvSpPr>
        <p:spPr>
          <a:xfrm>
            <a:off x="457200" y="1143000"/>
            <a:ext cx="2560320" cy="2743200"/>
          </a:xfrm>
          <a:prstGeom prst="rect">
            <a:avLst/>
          </a:prstGeom>
          <a:solidFill>
            <a:schemeClr val="bg2"/>
          </a:solidFill>
          <a:ln/>
        </p:spPr>
        <p:txBody>
          <a:bodyPr wrap="square" lIns="114300" tIns="114300" rIns="114300" bIns="114300" rtlCol="0" anchor="t"/>
          <a:lstStyle/>
          <a:p>
            <a:pPr indent="0" marL="0">
              <a:spcAft>
                <a:spcPts val="600"/>
              </a:spcAft>
              <a:buNone/>
            </a:pPr>
            <a:r>
              <a:rPr lang="en-US" sz="1600" b="1" dirty="0">
                <a:solidFill>
                  <a:schemeClr val="tx2"/>
                </a:solidFill>
              </a:rPr>
              <a:t>1990s: MySQL exists</a:t>
            </a:r>
            <a:endParaRPr lang="en-US" sz="1600" dirty="0"/>
          </a:p>
          <a:p>
            <a:pPr marL="190500" indent="-190500">
              <a:spcAft>
                <a:spcPts val="300"/>
              </a:spcAft>
              <a:buSzPct val="100000"/>
              <a:buChar char="•"/>
            </a:pPr>
            <a:r>
              <a:rPr lang="en-US" sz="1300" dirty="0">
                <a:solidFill>
                  <a:schemeClr val="tx1"/>
                </a:solidFill>
              </a:rPr>
              <a:t>Relational database system developed in the 1990s</a:t>
            </a:r>
            <a:endParaRPr lang="en-US" sz="1600" dirty="0"/>
          </a:p>
          <a:p>
            <a:pPr marL="190500" indent="-190500">
              <a:spcAft>
                <a:spcPts val="300"/>
              </a:spcAft>
              <a:buSzPct val="100000"/>
              <a:buChar char="•"/>
            </a:pPr>
            <a:r>
              <a:rPr lang="en-US" sz="1300" dirty="0">
                <a:solidFill>
                  <a:schemeClr val="tx1"/>
                </a:solidFill>
              </a:rPr>
              <a:t>Popular for websites and applications; it had an open-source version</a:t>
            </a:r>
            <a:endParaRPr lang="en-US" sz="1600" dirty="0"/>
          </a:p>
          <a:p>
            <a:pPr marL="190500" indent="-190500">
              <a:spcAft>
                <a:spcPts val="300"/>
              </a:spcAft>
              <a:buSzPct val="100000"/>
              <a:buChar char="•"/>
            </a:pPr>
            <a:r>
              <a:rPr lang="en-US" sz="1300" dirty="0">
                <a:solidFill>
                  <a:schemeClr val="tx1"/>
                </a:solidFill>
              </a:rPr>
              <a:t>Michael “Monty” Widenius was one of its original creators</a:t>
            </a:r>
            <a:endParaRPr lang="en-US" sz="1600" dirty="0"/>
          </a:p>
          <a:p>
            <a:pPr marL="190500" indent="-190500">
              <a:spcAft>
                <a:spcPts val="300"/>
              </a:spcAft>
              <a:buSzPct val="100000"/>
              <a:buChar char="•"/>
            </a:pPr>
            <a:r>
              <a:rPr lang="en-US" sz="1300" dirty="0">
                <a:solidFill>
                  <a:schemeClr val="tx1"/>
                </a:solidFill>
              </a:rPr>
              <a:t>Widely available and relatively easy to use</a:t>
            </a:r>
            <a:endParaRPr lang="en-US" sz="1600" dirty="0"/>
          </a:p>
        </p:txBody>
      </p:sp>
      <p:sp>
        <p:nvSpPr>
          <p:cNvPr id="4" name="Text 2"/>
          <p:cNvSpPr/>
          <p:nvPr/>
        </p:nvSpPr>
        <p:spPr>
          <a:xfrm>
            <a:off x="3291840" y="1143000"/>
            <a:ext cx="2560320" cy="2743200"/>
          </a:xfrm>
          <a:prstGeom prst="rect">
            <a:avLst/>
          </a:prstGeom>
          <a:solidFill>
            <a:schemeClr val="bg2"/>
          </a:solidFill>
          <a:ln/>
        </p:spPr>
        <p:txBody>
          <a:bodyPr wrap="square" lIns="114300" tIns="114300" rIns="114300" bIns="114300" rtlCol="0" anchor="t"/>
          <a:lstStyle/>
          <a:p>
            <a:pPr indent="0" marL="0">
              <a:spcAft>
                <a:spcPts val="600"/>
              </a:spcAft>
              <a:buNone/>
            </a:pPr>
            <a:r>
              <a:rPr lang="en-US" sz="1600" b="1" dirty="0">
                <a:solidFill>
                  <a:schemeClr val="tx2"/>
                </a:solidFill>
              </a:rPr>
              <a:t>2008: Sun acquires MySQL</a:t>
            </a:r>
            <a:endParaRPr lang="en-US" sz="1600" dirty="0"/>
          </a:p>
          <a:p>
            <a:pPr marL="190500" indent="-190500">
              <a:spcAft>
                <a:spcPts val="300"/>
              </a:spcAft>
              <a:buSzPct val="100000"/>
              <a:buChar char="•"/>
            </a:pPr>
            <a:r>
              <a:rPr lang="en-US" sz="1300" dirty="0">
                <a:solidFill>
                  <a:schemeClr val="tx1"/>
                </a:solidFill>
              </a:rPr>
              <a:t>Sun Microsystems acquired MySQL AB, the company behind MySQL</a:t>
            </a:r>
            <a:endParaRPr lang="en-US" sz="1600" dirty="0"/>
          </a:p>
          <a:p>
            <a:pPr marL="190500" indent="-190500">
              <a:spcAft>
                <a:spcPts val="300"/>
              </a:spcAft>
              <a:buSzPct val="100000"/>
              <a:buChar char="•"/>
            </a:pPr>
            <a:r>
              <a:rPr lang="en-US" sz="1300" dirty="0">
                <a:solidFill>
                  <a:schemeClr val="tx1"/>
                </a:solidFill>
              </a:rPr>
              <a:t>MySQL came under Sun's ownership</a:t>
            </a:r>
            <a:endParaRPr lang="en-US" sz="1600" dirty="0"/>
          </a:p>
        </p:txBody>
      </p:sp>
      <p:sp>
        <p:nvSpPr>
          <p:cNvPr id="5" name="Text 3"/>
          <p:cNvSpPr/>
          <p:nvPr/>
        </p:nvSpPr>
        <p:spPr>
          <a:xfrm>
            <a:off x="6126480" y="1143000"/>
            <a:ext cx="2560320" cy="2743200"/>
          </a:xfrm>
          <a:prstGeom prst="rect">
            <a:avLst/>
          </a:prstGeom>
          <a:solidFill>
            <a:schemeClr val="bg2"/>
          </a:solidFill>
          <a:ln/>
        </p:spPr>
        <p:txBody>
          <a:bodyPr wrap="square" lIns="114300" tIns="114300" rIns="114300" bIns="114300" rtlCol="0" anchor="t"/>
          <a:lstStyle/>
          <a:p>
            <a:pPr indent="0" marL="0">
              <a:spcAft>
                <a:spcPts val="600"/>
              </a:spcAft>
              <a:buNone/>
            </a:pPr>
            <a:r>
              <a:rPr lang="en-US" sz="1600" b="1" dirty="0">
                <a:solidFill>
                  <a:schemeClr val="tx2"/>
                </a:solidFill>
              </a:rPr>
              <a:t>2010: Oracle acquires Sun</a:t>
            </a:r>
            <a:endParaRPr lang="en-US" sz="1600" dirty="0"/>
          </a:p>
          <a:p>
            <a:pPr marL="190500" indent="-190500">
              <a:spcAft>
                <a:spcPts val="300"/>
              </a:spcAft>
              <a:buSzPct val="100000"/>
              <a:buChar char="•"/>
            </a:pPr>
            <a:r>
              <a:rPr lang="en-US" sz="1300" dirty="0">
                <a:solidFill>
                  <a:schemeClr val="tx1"/>
                </a:solidFill>
              </a:rPr>
              <a:t>Oracle completed its acquisition of Sun Microsystems</a:t>
            </a:r>
            <a:endParaRPr lang="en-US" sz="1600" dirty="0"/>
          </a:p>
          <a:p>
            <a:pPr marL="190500" indent="-190500">
              <a:spcAft>
                <a:spcPts val="300"/>
              </a:spcAft>
              <a:buSzPct val="100000"/>
              <a:buChar char="•"/>
            </a:pPr>
            <a:r>
              <a:rPr lang="en-US" sz="1300" dirty="0">
                <a:solidFill>
                  <a:schemeClr val="tx1"/>
                </a:solidFill>
              </a:rPr>
              <a:t>MySQL came under Oracle's ownership too</a:t>
            </a:r>
            <a:endParaRPr lang="en-US" sz="1600" dirty="0"/>
          </a:p>
          <a:p>
            <a:pPr marL="190500" indent="-190500">
              <a:spcAft>
                <a:spcPts val="300"/>
              </a:spcAft>
              <a:buSzPct val="100000"/>
              <a:buChar char="•"/>
            </a:pPr>
            <a:r>
              <a:rPr lang="en-US" sz="1300" dirty="0">
                <a:solidFill>
                  <a:schemeClr val="tx1"/>
                </a:solidFill>
              </a:rPr>
              <a:t>Some community members worried about the project's independence and openness under a large commercial company</a:t>
            </a:r>
            <a:endParaRPr lang="en-US" sz="1600" dirty="0"/>
          </a:p>
        </p:txBody>
      </p:sp>
      <p:sp>
        <p:nvSpPr>
          <p:cNvPr id="6" name="Text 4"/>
          <p:cNvSpPr txBox="1"/>
          <p:nvPr/>
        </p:nvSpPr>
        <p:spPr>
          <a:xfrm>
            <a:off x="457200" y="4023360"/>
            <a:ext cx="6400800" cy="640080"/>
          </a:xfrm>
          <a:prstGeom prst="rect">
            <a:avLst/>
          </a:prstGeom>
          <a:noFill/>
          <a:ln/>
        </p:spPr>
        <p:txBody>
          <a:bodyPr wrap="square" lIns="50800" tIns="50800" rIns="50800" bIns="50800" rtlCol="0" anchor="ctr"/>
          <a:lstStyle/>
          <a:p>
            <a:pPr indent="0" marL="0">
              <a:buNone/>
            </a:pPr>
            <a:r>
              <a:rPr lang="en-US" sz="1600" dirty="0">
                <a:solidFill>
                  <a:schemeClr val="tx1"/>
                </a:solidFill>
              </a:rPr>
              <a:t>Key point: the community wanted a strong, independently developed open-source alternative.</a:t>
            </a:r>
            <a:endParaRPr lang="en-US" sz="1600" dirty="0"/>
          </a:p>
        </p:txBody>
      </p:sp>
      <p:pic>
        <p:nvPicPr>
          <p:cNvPr id="7" name="Image 0" descr="MySQL logo">    </p:cNvPr>
          <p:cNvPicPr>
            <a:picLocks noChangeAspect="1"/>
          </p:cNvPicPr>
          <p:nvPr/>
        </p:nvPicPr>
        <p:blipFill>
          <a:blip r:embed="rId1"/>
          <a:stretch>
            <a:fillRect/>
          </a:stretch>
        </p:blipFill>
        <p:spPr>
          <a:xfrm>
            <a:off x="7281865" y="3931920"/>
            <a:ext cx="1346831" cy="822960"/>
          </a:xfrm>
          <a:prstGeom prst="rect">
            <a:avLst/>
          </a:prstGeom>
        </p:spPr>
      </p:pic>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MariaDB Is Born in 2009</a:t>
            </a:r>
            <a:endParaRPr lang="en-US" sz="3000" dirty="0"/>
          </a:p>
        </p:txBody>
      </p:sp>
      <p:sp>
        <p:nvSpPr>
          <p:cNvPr id="3" name="Text 1"/>
          <p:cNvSpPr txBox="1"/>
          <p:nvPr/>
        </p:nvSpPr>
        <p:spPr>
          <a:xfrm>
            <a:off x="457200" y="1051560"/>
            <a:ext cx="5303520" cy="2377440"/>
          </a:xfrm>
          <a:prstGeom prst="rect">
            <a:avLst/>
          </a:prstGeom>
          <a:noFill/>
          <a:ln/>
        </p:spPr>
        <p:txBody>
          <a:bodyPr wrap="square" lIns="50800" tIns="50800" rIns="50800" bIns="50800" rtlCol="0" anchor="t"/>
          <a:lstStyle/>
          <a:p>
            <a:pPr marL="190500" indent="-190500">
              <a:spcAft>
                <a:spcPts val="300"/>
              </a:spcAft>
              <a:buSzPct val="100000"/>
              <a:buChar char="•"/>
            </a:pPr>
            <a:r>
              <a:rPr lang="en-US" sz="1300" b="1" dirty="0">
                <a:solidFill>
                  <a:schemeClr val="tx1"/>
                </a:solidFill>
              </a:rPr>
              <a:t>Born in 2009: </a:t>
            </a:r>
            <a:pPr indent="0" marL="0">
              <a:spcAft>
                <a:spcPts val="300"/>
              </a:spcAft>
              <a:buNone/>
            </a:pPr>
            <a:r>
              <a:rPr lang="en-US" sz="1300" dirty="0">
                <a:solidFill>
                  <a:schemeClr val="tx1"/>
                </a:solidFill>
              </a:rPr>
              <a:t>created by Monty Widenius and other original MySQL developers as a fork of MySQL</a:t>
            </a:r>
            <a:endParaRPr lang="en-US" sz="1300" dirty="0"/>
          </a:p>
          <a:p>
            <a:pPr marL="190500" indent="-190500">
              <a:spcAft>
                <a:spcPts val="300"/>
              </a:spcAft>
              <a:buSzPct val="100000"/>
              <a:buChar char="•"/>
            </a:pPr>
            <a:r>
              <a:rPr lang="en-US" sz="1300" b="1" dirty="0">
                <a:solidFill>
                  <a:schemeClr val="tx1"/>
                </a:solidFill>
              </a:rPr>
              <a:t>What does fork mean? </a:t>
            </a:r>
            <a:pPr indent="0" marL="0">
              <a:spcAft>
                <a:spcPts val="300"/>
              </a:spcAft>
              <a:buNone/>
            </a:pPr>
            <a:r>
              <a:rPr lang="en-US" sz="1300" dirty="0">
                <a:solidFill>
                  <a:schemeClr val="tx1"/>
                </a:solidFill>
              </a:rPr>
              <a:t>a software project is like a tree: developers copy the existing source code and develop that copy independently</a:t>
            </a:r>
            <a:endParaRPr lang="en-US" sz="1300" dirty="0"/>
          </a:p>
          <a:p>
            <a:pPr lvl="1" marL="381000" indent="-190500">
              <a:spcAft>
                <a:spcPts val="300"/>
              </a:spcAft>
              <a:buSzPct val="100000"/>
              <a:buChar char="•"/>
            </a:pPr>
            <a:r>
              <a:rPr lang="en-US" sz="1300" dirty="0">
                <a:solidFill>
                  <a:schemeClr val="tx1"/>
                </a:solidFill>
              </a:rPr>
              <a:t>The new project keeps much of the original functionality while adding its own features</a:t>
            </a:r>
            <a:endParaRPr lang="en-US" sz="1300" dirty="0"/>
          </a:p>
          <a:p>
            <a:pPr marL="190500" indent="-190500">
              <a:spcAft>
                <a:spcPts val="300"/>
              </a:spcAft>
              <a:buSzPct val="100000"/>
              <a:buChar char="•"/>
            </a:pPr>
            <a:r>
              <a:rPr lang="en-US" sz="1300" b="1" dirty="0">
                <a:solidFill>
                  <a:schemeClr val="tx1"/>
                </a:solidFill>
              </a:rPr>
              <a:t>Date detail: </a:t>
            </a:r>
            <a:pPr indent="0" marL="0">
              <a:spcAft>
                <a:spcPts val="300"/>
              </a:spcAft>
              <a:buNone/>
            </a:pPr>
            <a:r>
              <a:rPr lang="en-US" sz="1300" dirty="0">
                <a:solidFill>
                  <a:schemeClr val="tx1"/>
                </a:solidFill>
              </a:rPr>
              <a:t>started in 2009, before Oracle completed its acquisition of Sun in 2010</a:t>
            </a:r>
            <a:endParaRPr lang="en-US" sz="1300" dirty="0"/>
          </a:p>
          <a:p>
            <a:pPr lvl="1" marL="381000" indent="-190500">
              <a:spcAft>
                <a:spcPts val="300"/>
              </a:spcAft>
              <a:buSzPct val="100000"/>
              <a:buChar char="•"/>
            </a:pPr>
            <a:r>
              <a:rPr lang="en-US" sz="1300" dirty="0">
                <a:solidFill>
                  <a:schemeClr val="tx1"/>
                </a:solidFill>
              </a:rPr>
              <a:t>Concern about MySQL's independence was background, but MariaDB was not first created in 2010</a:t>
            </a:r>
            <a:endParaRPr lang="en-US" sz="1300" dirty="0"/>
          </a:p>
        </p:txBody>
      </p:sp>
      <p:sp>
        <p:nvSpPr>
          <p:cNvPr id="4" name="Text 2"/>
          <p:cNvSpPr/>
          <p:nvPr/>
        </p:nvSpPr>
        <p:spPr>
          <a:xfrm>
            <a:off x="457200" y="3383280"/>
            <a:ext cx="5303520" cy="1371600"/>
          </a:xfrm>
          <a:prstGeom prst="rect">
            <a:avLst/>
          </a:prstGeom>
          <a:solidFill>
            <a:schemeClr val="bg2"/>
          </a:solidFill>
          <a:ln/>
        </p:spPr>
        <p:txBody>
          <a:bodyPr wrap="square" lIns="101600" tIns="101600" rIns="101600" bIns="101600" rtlCol="0" anchor="t"/>
          <a:lstStyle/>
          <a:p>
            <a:pPr indent="0" marL="0">
              <a:spcAft>
                <a:spcPts val="400"/>
              </a:spcAft>
              <a:buNone/>
            </a:pPr>
            <a:r>
              <a:rPr lang="en-US" sz="1300" b="1" dirty="0">
                <a:solidFill>
                  <a:schemeClr val="tx2"/>
                </a:solidFill>
              </a:rPr>
              <a:t>Why was MariaDB created? (presentation answer)</a:t>
            </a:r>
            <a:endParaRPr lang="en-US" sz="1300" dirty="0"/>
          </a:p>
          <a:p>
            <a:pPr indent="0" marL="0">
              <a:buNone/>
            </a:pPr>
            <a:r>
              <a:rPr lang="en-US" sz="1100" dirty="0">
                <a:solidFill>
                  <a:srgbClr val="000000"/>
                </a:solidFill>
              </a:rPr>
              <a:t>MariaDB was created to maintain an independently developed, open-source alternative to MySQL. It was founded in 2009 by original MySQL developers led by Michael “Monty” Widenius. Its name comes from Monty's daughter Maria. It retains substantial MySQL compatibility while developing its own features and architecture.</a:t>
            </a:r>
            <a:endParaRPr lang="en-US" sz="1300" dirty="0"/>
          </a:p>
        </p:txBody>
      </p:sp>
      <p:pic>
        <p:nvPicPr>
          <p:cNvPr id="5" name="Image 0" descr="MySQL, Oracle and MariaDB fork illustration">    </p:cNvPr>
          <p:cNvPicPr>
            <a:picLocks noChangeAspect="1"/>
          </p:cNvPicPr>
          <p:nvPr/>
        </p:nvPicPr>
        <p:blipFill>
          <a:blip r:embed="rId1"/>
          <a:stretch>
            <a:fillRect/>
          </a:stretch>
        </p:blipFill>
        <p:spPr>
          <a:xfrm>
            <a:off x="6035040" y="1361685"/>
            <a:ext cx="2651760" cy="3083070"/>
          </a:xfrm>
          <a:prstGeom prst="rect">
            <a:avLst/>
          </a:prstGeom>
        </p:spPr>
      </p:pic>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Name and Evolution</a:t>
            </a:r>
            <a:endParaRPr lang="en-US" sz="3000" dirty="0"/>
          </a:p>
        </p:txBody>
      </p:sp>
      <p:sp>
        <p:nvSpPr>
          <p:cNvPr id="3" name="Text 1"/>
          <p:cNvSpPr/>
          <p:nvPr/>
        </p:nvSpPr>
        <p:spPr>
          <a:xfrm>
            <a:off x="457200" y="1143000"/>
            <a:ext cx="3474720" cy="1737360"/>
          </a:xfrm>
          <a:prstGeom prst="rect">
            <a:avLst/>
          </a:prstGeom>
          <a:solidFill>
            <a:schemeClr val="bg2"/>
          </a:solidFill>
          <a:ln/>
        </p:spPr>
        <p:txBody>
          <a:bodyPr wrap="square" lIns="114300" tIns="114300" rIns="114300" bIns="114300" rtlCol="0" anchor="t"/>
          <a:lstStyle/>
          <a:p>
            <a:pPr indent="0" marL="0">
              <a:spcAft>
                <a:spcPts val="600"/>
              </a:spcAft>
              <a:buNone/>
            </a:pPr>
            <a:r>
              <a:rPr lang="en-US" sz="2000" b="1" dirty="0">
                <a:solidFill>
                  <a:schemeClr val="tx2"/>
                </a:solidFill>
              </a:rPr>
              <a:t>Why “MariaDB”?</a:t>
            </a:r>
            <a:endParaRPr lang="en-US" sz="2000" dirty="0"/>
          </a:p>
          <a:p>
            <a:pPr marL="190500" indent="-190500">
              <a:spcAft>
                <a:spcPts val="500"/>
              </a:spcAft>
              <a:buSzPct val="100000"/>
              <a:buChar char="•"/>
            </a:pPr>
            <a:r>
              <a:rPr lang="en-US" sz="1700" dirty="0">
                <a:solidFill>
                  <a:schemeClr val="tx1"/>
                </a:solidFill>
              </a:rPr>
              <a:t>Named after Maria, Monty Widenius's younger daughter</a:t>
            </a:r>
            <a:endParaRPr lang="en-US" sz="2000" dirty="0"/>
          </a:p>
          <a:p>
            <a:pPr marL="190500" indent="-190500">
              <a:spcAft>
                <a:spcPts val="500"/>
              </a:spcAft>
              <a:buSzPct val="100000"/>
              <a:buChar char="•"/>
            </a:pPr>
            <a:r>
              <a:rPr lang="en-US" sz="1700" dirty="0">
                <a:solidFill>
                  <a:schemeClr val="tx1"/>
                </a:solidFill>
              </a:rPr>
              <a:t>MySQL was named after his other daughter, My</a:t>
            </a:r>
            <a:endParaRPr lang="en-US" sz="2000" dirty="0"/>
          </a:p>
        </p:txBody>
      </p:sp>
      <p:sp>
        <p:nvSpPr>
          <p:cNvPr id="4" name="Text 2"/>
          <p:cNvSpPr/>
          <p:nvPr/>
        </p:nvSpPr>
        <p:spPr>
          <a:xfrm>
            <a:off x="457200" y="3017520"/>
            <a:ext cx="3474720" cy="1645920"/>
          </a:xfrm>
          <a:prstGeom prst="rect">
            <a:avLst/>
          </a:prstGeom>
          <a:solidFill>
            <a:schemeClr val="bg2"/>
          </a:solidFill>
          <a:ln/>
        </p:spPr>
        <p:txBody>
          <a:bodyPr wrap="square" lIns="114300" tIns="114300" rIns="114300" bIns="114300" rtlCol="0" anchor="t"/>
          <a:lstStyle/>
          <a:p>
            <a:pPr indent="0" marL="0">
              <a:spcAft>
                <a:spcPts val="600"/>
              </a:spcAft>
              <a:buNone/>
            </a:pPr>
            <a:r>
              <a:rPr lang="en-US" sz="2000" b="1" dirty="0">
                <a:solidFill>
                  <a:schemeClr val="tx2"/>
                </a:solidFill>
              </a:rPr>
              <a:t>Foundation vs company</a:t>
            </a:r>
            <a:endParaRPr lang="en-US" sz="2000" dirty="0"/>
          </a:p>
          <a:p>
            <a:pPr marL="190500" indent="-190500">
              <a:spcAft>
                <a:spcPts val="500"/>
              </a:spcAft>
              <a:buSzPct val="100000"/>
              <a:buChar char="•"/>
            </a:pPr>
            <a:r>
              <a:rPr lang="en-US" sz="1700" dirty="0">
                <a:solidFill>
                  <a:schemeClr val="tx1"/>
                </a:solidFill>
              </a:rPr>
              <a:t>The MariaDB Foundation supports the open-source project</a:t>
            </a:r>
            <a:endParaRPr lang="en-US" sz="2000" dirty="0"/>
          </a:p>
          <a:p>
            <a:pPr marL="190500" indent="-190500">
              <a:spcAft>
                <a:spcPts val="500"/>
              </a:spcAft>
              <a:buSzPct val="100000"/>
              <a:buChar char="•"/>
            </a:pPr>
            <a:r>
              <a:rPr lang="en-US" sz="1700" dirty="0">
                <a:solidFill>
                  <a:schemeClr val="tx1"/>
                </a:solidFill>
              </a:rPr>
              <a:t>It is not the same as the commercial company MariaDB plc</a:t>
            </a:r>
            <a:endParaRPr lang="en-US" sz="2000" dirty="0"/>
          </a:p>
        </p:txBody>
      </p:sp>
      <p:sp>
        <p:nvSpPr>
          <p:cNvPr id="5" name="Text 3"/>
          <p:cNvSpPr txBox="1"/>
          <p:nvPr/>
        </p:nvSpPr>
        <p:spPr>
          <a:xfrm>
            <a:off x="4297680" y="1143000"/>
            <a:ext cx="4389120" cy="274320"/>
          </a:xfrm>
          <a:prstGeom prst="rect">
            <a:avLst/>
          </a:prstGeom>
          <a:noFill/>
          <a:ln/>
        </p:spPr>
        <p:txBody>
          <a:bodyPr wrap="square" lIns="25400" tIns="25400" rIns="25400" bIns="25400" rtlCol="0" anchor="ctr"/>
          <a:lstStyle/>
          <a:p>
            <a:pPr indent="0" marL="0">
              <a:buNone/>
            </a:pPr>
            <a:r>
              <a:rPr lang="en-US" sz="1400" b="1" dirty="0">
                <a:solidFill>
                  <a:schemeClr val="tx2"/>
                </a:solidFill>
              </a:rPr>
              <a:t>How it evolved</a:t>
            </a:r>
            <a:endParaRPr lang="en-US" sz="1400" dirty="0"/>
          </a:p>
        </p:txBody>
      </p:sp>
      <p:sp>
        <p:nvSpPr>
          <p:cNvPr id="6" name="Text 4"/>
          <p:cNvSpPr txBox="1"/>
          <p:nvPr/>
        </p:nvSpPr>
        <p:spPr>
          <a:xfrm>
            <a:off x="4297680" y="1463040"/>
            <a:ext cx="4389120" cy="2377440"/>
          </a:xfrm>
          <a:prstGeom prst="rect">
            <a:avLst/>
          </a:prstGeom>
          <a:noFill/>
          <a:ln/>
        </p:spPr>
        <p:txBody>
          <a:bodyPr wrap="square" lIns="50800" tIns="50800" rIns="50800" bIns="50800" rtlCol="0" anchor="t"/>
          <a:lstStyle/>
          <a:p>
            <a:pPr marL="190500" indent="-190500">
              <a:spcAft>
                <a:spcPts val="600"/>
              </a:spcAft>
              <a:buSzPct val="100000"/>
              <a:buChar char="•"/>
            </a:pPr>
            <a:r>
              <a:rPr lang="en-US" sz="1800" b="1" dirty="0">
                <a:solidFill>
                  <a:schemeClr val="tx1"/>
                </a:solidFill>
              </a:rPr>
              <a:t>2009: </a:t>
            </a:r>
            <a:pPr indent="0" marL="0">
              <a:spcAft>
                <a:spcPts val="600"/>
              </a:spcAft>
              <a:buNone/>
            </a:pPr>
            <a:r>
              <a:rPr lang="en-US" sz="1800" dirty="0">
                <a:solidFill>
                  <a:schemeClr val="tx1"/>
                </a:solidFill>
              </a:rPr>
              <a:t>Founded as a fork of MySQL</a:t>
            </a:r>
            <a:endParaRPr lang="en-US" sz="1800" dirty="0"/>
          </a:p>
          <a:p>
            <a:pPr marL="190500" indent="-190500">
              <a:spcAft>
                <a:spcPts val="600"/>
              </a:spcAft>
              <a:buSzPct val="100000"/>
              <a:buChar char="•"/>
            </a:pPr>
            <a:r>
              <a:rPr lang="en-US" sz="1800" b="1" dirty="0">
                <a:solidFill>
                  <a:schemeClr val="tx1"/>
                </a:solidFill>
              </a:rPr>
              <a:t>2010 onward: </a:t>
            </a:r>
            <a:pPr indent="0" marL="0">
              <a:spcAft>
                <a:spcPts val="600"/>
              </a:spcAft>
              <a:buNone/>
            </a:pPr>
            <a:r>
              <a:rPr lang="en-US" sz="1800" dirty="0">
                <a:solidFill>
                  <a:schemeClr val="tx1"/>
                </a:solidFill>
              </a:rPr>
              <a:t>Developed into an independently maintained database project</a:t>
            </a:r>
            <a:endParaRPr lang="en-US" sz="1800" dirty="0"/>
          </a:p>
          <a:p>
            <a:pPr marL="190500" indent="-190500">
              <a:spcAft>
                <a:spcPts val="600"/>
              </a:spcAft>
              <a:buSzPct val="100000"/>
              <a:buChar char="•"/>
            </a:pPr>
            <a:r>
              <a:rPr lang="en-US" sz="1800" b="1" dirty="0">
                <a:solidFill>
                  <a:schemeClr val="tx1"/>
                </a:solidFill>
              </a:rPr>
              <a:t>2012: </a:t>
            </a:r>
            <a:pPr indent="0" marL="0">
              <a:spcAft>
                <a:spcPts val="600"/>
              </a:spcAft>
              <a:buNone/>
            </a:pPr>
            <a:r>
              <a:rPr lang="en-US" sz="1800" dirty="0">
                <a:solidFill>
                  <a:schemeClr val="tx1"/>
                </a:solidFill>
              </a:rPr>
              <a:t>MariaDB Foundation established to support continuity and open-source development</a:t>
            </a:r>
            <a:endParaRPr lang="en-US" sz="1800" dirty="0"/>
          </a:p>
          <a:p>
            <a:pPr marL="190500" indent="-190500">
              <a:spcAft>
                <a:spcPts val="600"/>
              </a:spcAft>
              <a:buSzPct val="100000"/>
              <a:buChar char="•"/>
            </a:pPr>
            <a:r>
              <a:rPr lang="en-US" sz="1800" b="1" dirty="0">
                <a:solidFill>
                  <a:schemeClr val="tx1"/>
                </a:solidFill>
              </a:rPr>
              <a:t>Later years: </a:t>
            </a:r>
            <a:pPr indent="0" marL="0">
              <a:spcAft>
                <a:spcPts val="600"/>
              </a:spcAft>
              <a:buNone/>
            </a:pPr>
            <a:r>
              <a:rPr lang="en-US" sz="1800" dirty="0">
                <a:solidFill>
                  <a:schemeClr val="tx1"/>
                </a:solidFill>
              </a:rPr>
              <a:t>Added and improved storage engines, security features, replication, performance options and enterprise capabilities</a:t>
            </a:r>
            <a:endParaRPr lang="en-US" sz="1800" dirty="0"/>
          </a:p>
        </p:txBody>
      </p:sp>
      <p:pic>
        <p:nvPicPr>
          <p:cNvPr id="7" name="Image 0" descr="MariaDB mascot">    </p:cNvPr>
          <p:cNvPicPr>
            <a:picLocks noChangeAspect="1"/>
          </p:cNvPicPr>
          <p:nvPr/>
        </p:nvPicPr>
        <p:blipFill>
          <a:blip r:embed="rId1"/>
          <a:stretch>
            <a:fillRect/>
          </a:stretch>
        </p:blipFill>
        <p:spPr>
          <a:xfrm>
            <a:off x="7894320" y="4069080"/>
            <a:ext cx="487680" cy="731520"/>
          </a:xfrm>
          <a:prstGeom prst="rect">
            <a:avLst/>
          </a:prstGeom>
        </p:spPr>
      </p:pic>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Database Type: The Relational Model</a:t>
            </a:r>
            <a:endParaRPr lang="en-US" sz="3000" dirty="0"/>
          </a:p>
        </p:txBody>
      </p:sp>
      <p:sp>
        <p:nvSpPr>
          <p:cNvPr id="3" name="Text 1"/>
          <p:cNvSpPr txBox="1"/>
          <p:nvPr/>
        </p:nvSpPr>
        <p:spPr>
          <a:xfrm>
            <a:off x="457200" y="1188720"/>
            <a:ext cx="4114800" cy="3474720"/>
          </a:xfrm>
          <a:prstGeom prst="rect">
            <a:avLst/>
          </a:prstGeom>
          <a:noFill/>
          <a:ln/>
        </p:spPr>
        <p:txBody>
          <a:bodyPr wrap="square" lIns="50800" tIns="50800" rIns="50800" bIns="50800" rtlCol="0" anchor="t"/>
          <a:lstStyle/>
          <a:p>
            <a:pPr marL="190500" indent="-190500">
              <a:spcAft>
                <a:spcPts val="800"/>
              </a:spcAft>
              <a:buSzPct val="100000"/>
              <a:buChar char="•"/>
            </a:pPr>
            <a:r>
              <a:rPr lang="en-US" sz="1600" dirty="0">
                <a:solidFill>
                  <a:schemeClr val="tx1"/>
                </a:solidFill>
              </a:rPr>
              <a:t>MariaDB is a relational, table-based database system</a:t>
            </a:r>
            <a:endParaRPr lang="en-US" sz="1600" dirty="0"/>
          </a:p>
          <a:p>
            <a:pPr marL="190500" indent="-190500">
              <a:spcAft>
                <a:spcPts val="800"/>
              </a:spcAft>
              <a:buSzPct val="100000"/>
              <a:buChar char="•"/>
            </a:pPr>
            <a:r>
              <a:rPr lang="en-US" sz="1600" dirty="0">
                <a:solidFill>
                  <a:schemeClr val="tx1"/>
                </a:solidFill>
              </a:rPr>
              <a:t>Example: a college stores students and the courses they study</a:t>
            </a:r>
            <a:endParaRPr lang="en-US" sz="1600" dirty="0"/>
          </a:p>
          <a:p>
            <a:pPr marL="190500" indent="-190500">
              <a:spcAft>
                <a:spcPts val="800"/>
              </a:spcAft>
              <a:buSzPct val="100000"/>
              <a:buChar char="•"/>
            </a:pPr>
            <a:r>
              <a:rPr lang="en-US" sz="1600" dirty="0">
                <a:solidFill>
                  <a:schemeClr val="tx1"/>
                </a:solidFill>
              </a:rPr>
              <a:t>Instead of one huge table, create related tables</a:t>
            </a:r>
            <a:endParaRPr lang="en-US" sz="1600" dirty="0"/>
          </a:p>
          <a:p>
            <a:pPr marL="190500" indent="-190500">
              <a:spcAft>
                <a:spcPts val="800"/>
              </a:spcAft>
              <a:buSzPct val="100000"/>
              <a:buChar char="•"/>
            </a:pPr>
            <a:r>
              <a:rPr lang="en-US" sz="1600" dirty="0">
                <a:solidFill>
                  <a:schemeClr val="tx1"/>
                </a:solidFill>
              </a:rPr>
              <a:t>The tables hold different kinds of information; other tables can connect students to their courses</a:t>
            </a:r>
            <a:endParaRPr lang="en-US" sz="1600" dirty="0"/>
          </a:p>
          <a:p>
            <a:pPr marL="190500" indent="-190500">
              <a:spcAft>
                <a:spcPts val="800"/>
              </a:spcAft>
              <a:buSzPct val="100000"/>
              <a:buChar char="•"/>
            </a:pPr>
            <a:r>
              <a:rPr lang="en-US" sz="1600" dirty="0">
                <a:solidFill>
                  <a:schemeClr val="tx1"/>
                </a:solidFill>
              </a:rPr>
              <a:t>In simple words: the relational model keeps data organized, connected, and consistent</a:t>
            </a:r>
            <a:endParaRPr lang="en-US" sz="1600" dirty="0"/>
          </a:p>
        </p:txBody>
      </p:sp>
      <p:sp>
        <p:nvSpPr>
          <p:cNvPr id="4" name="Text 2"/>
          <p:cNvSpPr txBox="1"/>
          <p:nvPr/>
        </p:nvSpPr>
        <p:spPr>
          <a:xfrm>
            <a:off x="4937760" y="1143000"/>
            <a:ext cx="3657600" cy="274320"/>
          </a:xfrm>
          <a:prstGeom prst="rect">
            <a:avLst/>
          </a:prstGeom>
          <a:noFill/>
          <a:ln/>
        </p:spPr>
        <p:txBody>
          <a:bodyPr wrap="square" lIns="25400" tIns="25400" rIns="25400" bIns="25400" rtlCol="0" anchor="ctr"/>
          <a:lstStyle/>
          <a:p>
            <a:pPr indent="0" marL="0">
              <a:buNone/>
            </a:pPr>
            <a:r>
              <a:rPr lang="en-US" sz="1400" b="1" dirty="0">
                <a:solidFill>
                  <a:schemeClr val="tx2"/>
                </a:solidFill>
              </a:rPr>
              <a:t>Student table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937760" y="1444752"/>
          <a:ext cx="3840480" cy="914400"/>
        </p:xfrm>
        <a:graphic>
          <a:graphicData uri="http://schemas.openxmlformats.org/drawingml/2006/table">
            <a:tbl>
              <a:tblPr/>
              <a:tblGrid>
                <a:gridCol w="1188720"/>
                <a:gridCol w="1188720"/>
                <a:gridCol w="1463040"/>
              </a:tblGrid>
              <a:tr h="3291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StudentID</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Name</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Department</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r>
              <a:tr h="3291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101</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Rahul</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CSE</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3291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102</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Priya</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IT</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937760" y="2743200"/>
            <a:ext cx="3657600" cy="274320"/>
          </a:xfrm>
          <a:prstGeom prst="rect">
            <a:avLst/>
          </a:prstGeom>
          <a:noFill/>
          <a:ln/>
        </p:spPr>
        <p:txBody>
          <a:bodyPr wrap="square" lIns="25400" tIns="25400" rIns="25400" bIns="25400" rtlCol="0" anchor="ctr"/>
          <a:lstStyle/>
          <a:p>
            <a:pPr indent="0" marL="0">
              <a:buNone/>
            </a:pPr>
            <a:r>
              <a:rPr lang="en-US" sz="1400" b="1" dirty="0">
                <a:solidFill>
                  <a:schemeClr val="tx2"/>
                </a:solidFill>
              </a:rPr>
              <a:t>Course table</a:t>
            </a:r>
            <a:endParaRPr lang="en-US" sz="14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937760" y="3044952"/>
          <a:ext cx="3749040" cy="914400"/>
        </p:xfrm>
        <a:graphic>
          <a:graphicData uri="http://schemas.openxmlformats.org/drawingml/2006/table">
            <a:tbl>
              <a:tblPr/>
              <a:tblGrid>
                <a:gridCol w="1188720"/>
                <a:gridCol w="2560320"/>
              </a:tblGrid>
              <a:tr h="3291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CourseID</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CourseName</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r>
              <a:tr h="3291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Java</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3291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DBMS</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Primary Key, Foreign Key and Constraints</a:t>
            </a:r>
            <a:endParaRPr lang="en-US" sz="3000" dirty="0"/>
          </a:p>
        </p:txBody>
      </p:sp>
      <p:sp>
        <p:nvSpPr>
          <p:cNvPr id="3" name="Text 1"/>
          <p:cNvSpPr/>
          <p:nvPr/>
        </p:nvSpPr>
        <p:spPr>
          <a:xfrm>
            <a:off x="457200" y="1051560"/>
            <a:ext cx="4023360" cy="2331720"/>
          </a:xfrm>
          <a:prstGeom prst="rect">
            <a:avLst/>
          </a:prstGeom>
          <a:solidFill>
            <a:schemeClr val="bg2"/>
          </a:solidFill>
          <a:ln/>
        </p:spPr>
        <p:txBody>
          <a:bodyPr wrap="square" lIns="114300" tIns="114300" rIns="114300" bIns="114300" rtlCol="0" anchor="t"/>
          <a:lstStyle/>
          <a:p>
            <a:pPr indent="0" marL="0">
              <a:spcAft>
                <a:spcPts val="600"/>
              </a:spcAft>
              <a:buNone/>
            </a:pPr>
            <a:r>
              <a:rPr lang="en-US" sz="1600" b="1" dirty="0">
                <a:solidFill>
                  <a:schemeClr val="tx2"/>
                </a:solidFill>
              </a:rPr>
              <a:t>Primary key (PK)</a:t>
            </a:r>
            <a:endParaRPr lang="en-US" sz="1600" dirty="0"/>
          </a:p>
          <a:p>
            <a:pPr marL="190500" indent="-190500">
              <a:spcAft>
                <a:spcPts val="300"/>
              </a:spcAft>
              <a:buSzPct val="100000"/>
              <a:buChar char="•"/>
            </a:pPr>
            <a:r>
              <a:rPr lang="en-US" sz="1300" dirty="0">
                <a:solidFill>
                  <a:schemeClr val="tx1"/>
                </a:solidFill>
              </a:rPr>
              <a:t>Uniquely identifies each record in a table</a:t>
            </a:r>
            <a:endParaRPr lang="en-US" sz="1600" dirty="0"/>
          </a:p>
          <a:p>
            <a:pPr marL="190500" indent="-190500">
              <a:spcAft>
                <a:spcPts val="300"/>
              </a:spcAft>
              <a:buSzPct val="100000"/>
              <a:buChar char="•"/>
            </a:pPr>
            <a:r>
              <a:rPr lang="en-US" sz="1300" dirty="0">
                <a:solidFill>
                  <a:schemeClr val="tx1"/>
                </a:solidFill>
              </a:rPr>
              <a:t>StudentID can be a primary key: each student has a different ID (Rahul → 101, Priya → 102)</a:t>
            </a:r>
            <a:endParaRPr lang="en-US" sz="1600" dirty="0"/>
          </a:p>
          <a:p>
            <a:pPr marL="190500" indent="-190500">
              <a:spcAft>
                <a:spcPts val="300"/>
              </a:spcAft>
              <a:buSzPct val="100000"/>
              <a:buChar char="•"/>
            </a:pPr>
            <a:r>
              <a:rPr lang="en-US" sz="1300" dirty="0">
                <a:solidFill>
                  <a:schemeClr val="tx1"/>
                </a:solidFill>
              </a:rPr>
              <a:t>No two records can have the same primary-key value</a:t>
            </a:r>
            <a:endParaRPr lang="en-US" sz="1600" dirty="0"/>
          </a:p>
          <a:p>
            <a:pPr marL="190500" indent="-190500">
              <a:spcAft>
                <a:spcPts val="300"/>
              </a:spcAft>
              <a:buSzPct val="100000"/>
              <a:buChar char="•"/>
            </a:pPr>
            <a:r>
              <a:rPr lang="en-US" sz="1300" dirty="0">
                <a:solidFill>
                  <a:schemeClr val="tx1"/>
                </a:solidFill>
              </a:rPr>
              <a:t>A primary key cannot be NULL</a:t>
            </a:r>
            <a:endParaRPr lang="en-US" sz="1600" dirty="0"/>
          </a:p>
        </p:txBody>
      </p:sp>
      <p:sp>
        <p:nvSpPr>
          <p:cNvPr id="4" name="Text 2"/>
          <p:cNvSpPr/>
          <p:nvPr/>
        </p:nvSpPr>
        <p:spPr>
          <a:xfrm>
            <a:off x="4663440" y="1051560"/>
            <a:ext cx="4023360" cy="2331720"/>
          </a:xfrm>
          <a:prstGeom prst="rect">
            <a:avLst/>
          </a:prstGeom>
          <a:solidFill>
            <a:schemeClr val="bg2"/>
          </a:solidFill>
          <a:ln/>
        </p:spPr>
        <p:txBody>
          <a:bodyPr wrap="square" lIns="114300" tIns="114300" rIns="114300" bIns="114300" rtlCol="0" anchor="t"/>
          <a:lstStyle/>
          <a:p>
            <a:pPr indent="0" marL="0">
              <a:spcAft>
                <a:spcPts val="600"/>
              </a:spcAft>
              <a:buNone/>
            </a:pPr>
            <a:r>
              <a:rPr lang="en-US" sz="1500" b="1" dirty="0">
                <a:solidFill>
                  <a:schemeClr val="tx2"/>
                </a:solidFill>
              </a:rPr>
              <a:t>Foreign key (FK)</a:t>
            </a:r>
            <a:endParaRPr lang="en-US" sz="1500" dirty="0"/>
          </a:p>
          <a:p>
            <a:pPr marL="190500" indent="-190500">
              <a:spcAft>
                <a:spcPts val="200"/>
              </a:spcAft>
              <a:buSzPct val="100000"/>
              <a:buChar char="•"/>
            </a:pPr>
            <a:r>
              <a:rPr lang="en-US" sz="1200" dirty="0">
                <a:solidFill>
                  <a:schemeClr val="tx1"/>
                </a:solidFill>
              </a:rPr>
              <a:t>Connects related tables and helps prevent invalid relationships</a:t>
            </a:r>
            <a:endParaRPr lang="en-US" sz="1500" dirty="0"/>
          </a:p>
          <a:p>
            <a:pPr marL="190500" indent="-190500">
              <a:spcAft>
                <a:spcPts val="200"/>
              </a:spcAft>
              <a:buSzPct val="100000"/>
              <a:buChar char="•"/>
            </a:pPr>
            <a:r>
              <a:rPr lang="en-US" sz="1200" dirty="0">
                <a:solidFill>
                  <a:schemeClr val="tx1"/>
                </a:solidFill>
              </a:rPr>
              <a:t>In Enrollments, StudentID refers to Student and CourseID refers to Course</a:t>
            </a:r>
            <a:endParaRPr lang="en-US" sz="1500" dirty="0"/>
          </a:p>
          <a:p>
            <a:pPr marL="190500" indent="-190500">
              <a:spcAft>
                <a:spcPts val="200"/>
              </a:spcAft>
              <a:buSzPct val="100000"/>
              <a:buChar char="•"/>
            </a:pPr>
            <a:r>
              <a:rPr lang="en-US" sz="1200" dirty="0">
                <a:solidFill>
                  <a:schemeClr val="tx1"/>
                </a:solidFill>
              </a:rPr>
              <a:t>Ensures the referenced student and course actually exist</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937760" y="2514600"/>
          <a:ext cx="2926080" cy="914400"/>
        </p:xfrm>
        <a:graphic>
          <a:graphicData uri="http://schemas.openxmlformats.org/drawingml/2006/table">
            <a:tbl>
              <a:tblPr/>
              <a:tblGrid>
                <a:gridCol w="1463040"/>
                <a:gridCol w="1463040"/>
              </a:tblGrid>
              <a:tr h="18288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StudentID</a:t>
                      </a:r>
                      <a:endParaRPr lang="en-US" sz="10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CourseID</a:t>
                      </a:r>
                      <a:endParaRPr lang="en-US" sz="10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r>
              <a:tr h="182880">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101</a:t>
                      </a:r>
                      <a:endParaRPr lang="en-US" sz="10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102</a:t>
                      </a:r>
                      <a:endParaRPr lang="en-US" sz="10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3429000"/>
            <a:ext cx="8229600" cy="274320"/>
          </a:xfrm>
          <a:prstGeom prst="rect">
            <a:avLst/>
          </a:prstGeom>
          <a:noFill/>
          <a:ln/>
        </p:spPr>
        <p:txBody>
          <a:bodyPr wrap="square" lIns="25400" tIns="25400" rIns="25400" bIns="25400" rtlCol="0" anchor="ctr"/>
          <a:lstStyle/>
          <a:p>
            <a:pPr indent="0" marL="0">
              <a:buNone/>
            </a:pPr>
            <a:r>
              <a:rPr lang="en-US" sz="1300" b="1" dirty="0">
                <a:solidFill>
                  <a:schemeClr val="tx2"/>
                </a:solidFill>
              </a:rPr>
              <a:t>Constraints are rules applied to data:</a:t>
            </a:r>
            <a:endParaRPr lang="en-US" sz="1300" dirty="0"/>
          </a:p>
        </p:txBody>
      </p:sp>
      <p:sp>
        <p:nvSpPr>
          <p:cNvPr id="7" name="Text 4"/>
          <p:cNvSpPr/>
          <p:nvPr/>
        </p:nvSpPr>
        <p:spPr>
          <a:xfrm>
            <a:off x="457200" y="3703320"/>
            <a:ext cx="2011680" cy="105156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PRIMARY KEY</a:t>
            </a:r>
            <a:endParaRPr lang="en-US" sz="1400" dirty="0"/>
          </a:p>
          <a:p>
            <a:pPr indent="0" marL="0">
              <a:spcAft>
                <a:spcPts val="500"/>
              </a:spcAft>
              <a:buNone/>
            </a:pPr>
            <a:r>
              <a:rPr lang="en-US" sz="1100" dirty="0">
                <a:solidFill>
                  <a:schemeClr val="tx1"/>
                </a:solidFill>
              </a:rPr>
              <a:t>Uniquely identifies a row</a:t>
            </a:r>
            <a:endParaRPr lang="en-US" sz="1400" dirty="0"/>
          </a:p>
        </p:txBody>
      </p:sp>
      <p:sp>
        <p:nvSpPr>
          <p:cNvPr id="8" name="Text 5"/>
          <p:cNvSpPr/>
          <p:nvPr/>
        </p:nvSpPr>
        <p:spPr>
          <a:xfrm>
            <a:off x="2560320" y="3703320"/>
            <a:ext cx="2011680" cy="105156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FOREIGN KEY</a:t>
            </a:r>
            <a:endParaRPr lang="en-US" sz="1400" dirty="0"/>
          </a:p>
          <a:p>
            <a:pPr indent="0" marL="0">
              <a:spcAft>
                <a:spcPts val="500"/>
              </a:spcAft>
              <a:buNone/>
            </a:pPr>
            <a:r>
              <a:rPr lang="en-US" sz="1100" dirty="0">
                <a:solidFill>
                  <a:schemeClr val="tx1"/>
                </a:solidFill>
              </a:rPr>
              <a:t>Maintains relationships between tables</a:t>
            </a:r>
            <a:endParaRPr lang="en-US" sz="1400" dirty="0"/>
          </a:p>
        </p:txBody>
      </p:sp>
      <p:sp>
        <p:nvSpPr>
          <p:cNvPr id="9" name="Text 6"/>
          <p:cNvSpPr/>
          <p:nvPr/>
        </p:nvSpPr>
        <p:spPr>
          <a:xfrm>
            <a:off x="4663440" y="3703320"/>
            <a:ext cx="2011680" cy="105156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NOT NULL</a:t>
            </a:r>
            <a:endParaRPr lang="en-US" sz="1400" dirty="0"/>
          </a:p>
          <a:p>
            <a:pPr indent="0" marL="0">
              <a:spcAft>
                <a:spcPts val="500"/>
              </a:spcAft>
              <a:buNone/>
            </a:pPr>
            <a:r>
              <a:rPr lang="en-US" sz="1100" dirty="0">
                <a:solidFill>
                  <a:schemeClr val="tx1"/>
                </a:solidFill>
              </a:rPr>
              <a:t>Does not allow a missing value in that column</a:t>
            </a:r>
            <a:endParaRPr lang="en-US" sz="1400" dirty="0"/>
          </a:p>
        </p:txBody>
      </p:sp>
      <p:sp>
        <p:nvSpPr>
          <p:cNvPr id="10" name="Text 7"/>
          <p:cNvSpPr/>
          <p:nvPr/>
        </p:nvSpPr>
        <p:spPr>
          <a:xfrm>
            <a:off x="6766560" y="3703320"/>
            <a:ext cx="2011680" cy="105156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UNIQUE</a:t>
            </a:r>
            <a:endParaRPr lang="en-US" sz="1400" dirty="0"/>
          </a:p>
          <a:p>
            <a:pPr indent="0" marL="0">
              <a:spcAft>
                <a:spcPts val="500"/>
              </a:spcAft>
              <a:buNone/>
            </a:pPr>
            <a:r>
              <a:rPr lang="en-US" sz="1100" dirty="0">
                <a:solidFill>
                  <a:schemeClr val="tx1"/>
                </a:solidFill>
              </a:rPr>
              <a:t>Prevents duplicate values in the column or combination of columns</a:t>
            </a:r>
            <a:endParaRPr lang="en-US" sz="14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MariaDB Architecture: How It Works Internally</a:t>
            </a:r>
            <a:endParaRPr lang="en-US" sz="3000" dirty="0"/>
          </a:p>
        </p:txBody>
      </p:sp>
      <p:sp>
        <p:nvSpPr>
          <p:cNvPr id="3" name="Text 1"/>
          <p:cNvSpPr txBox="1"/>
          <p:nvPr/>
        </p:nvSpPr>
        <p:spPr>
          <a:xfrm>
            <a:off x="457200" y="1097280"/>
            <a:ext cx="8229600" cy="1554480"/>
          </a:xfrm>
          <a:prstGeom prst="rect">
            <a:avLst/>
          </a:prstGeom>
          <a:noFill/>
          <a:ln/>
        </p:spPr>
        <p:txBody>
          <a:bodyPr wrap="square" lIns="50800" tIns="50800" rIns="50800" bIns="50800" rtlCol="0" anchor="t"/>
          <a:lstStyle/>
          <a:p>
            <a:pPr marL="190500" indent="-190500">
              <a:spcAft>
                <a:spcPts val="200"/>
              </a:spcAft>
              <a:buSzPct val="100000"/>
              <a:buChar char="•"/>
            </a:pPr>
            <a:r>
              <a:rPr lang="en-US" sz="1600" b="1" dirty="0">
                <a:solidFill>
                  <a:schemeClr val="tx1"/>
                </a:solidFill>
              </a:rPr>
              <a:t>Client–server architecture. </a:t>
            </a:r>
            <a:pPr indent="0" marL="0">
              <a:spcAft>
                <a:spcPts val="200"/>
              </a:spcAft>
              <a:buNone/>
            </a:pPr>
            <a:endParaRPr lang="en-US" sz="1600" dirty="0"/>
          </a:p>
          <a:p>
            <a:pPr lvl="1" marL="381000" indent="-190500">
              <a:spcAft>
                <a:spcPts val="200"/>
              </a:spcAft>
              <a:buSzPct val="100000"/>
              <a:buChar char="•"/>
            </a:pPr>
            <a:r>
              <a:rPr lang="en-US" sz="1600" b="1" dirty="0">
                <a:solidFill>
                  <a:schemeClr val="tx1"/>
                </a:solidFill>
              </a:rPr>
              <a:t>Client: </a:t>
            </a:r>
            <a:pPr indent="0" marL="0">
              <a:spcAft>
                <a:spcPts val="200"/>
              </a:spcAft>
              <a:buNone/>
            </a:pPr>
            <a:r>
              <a:rPr lang="en-US" sz="1600" dirty="0">
                <a:solidFill>
                  <a:schemeClr val="tx1"/>
                </a:solidFill>
              </a:rPr>
              <a:t>the program that requests information (terminal, Java application, database tool)</a:t>
            </a:r>
            <a:endParaRPr lang="en-US" sz="1600" dirty="0"/>
          </a:p>
          <a:p>
            <a:pPr lvl="1" marL="381000" indent="-190500">
              <a:spcAft>
                <a:spcPts val="200"/>
              </a:spcAft>
              <a:buSzPct val="100000"/>
              <a:buChar char="•"/>
            </a:pPr>
            <a:r>
              <a:rPr lang="en-US" sz="1600" b="1" dirty="0">
                <a:solidFill>
                  <a:schemeClr val="tx1"/>
                </a:solidFill>
              </a:rPr>
              <a:t>Server: </a:t>
            </a:r>
            <a:pPr indent="0" marL="0">
              <a:spcAft>
                <a:spcPts val="200"/>
              </a:spcAft>
              <a:buNone/>
            </a:pPr>
            <a:r>
              <a:rPr lang="en-US" sz="1600" dirty="0">
                <a:solidFill>
                  <a:schemeClr val="tx1"/>
                </a:solidFill>
              </a:rPr>
              <a:t>MariaDB itself, which receives requests and manages the database</a:t>
            </a:r>
            <a:endParaRPr lang="en-US" sz="1600" dirty="0"/>
          </a:p>
          <a:p>
            <a:pPr lvl="1" marL="381000" indent="-190500">
              <a:spcAft>
                <a:spcPts val="200"/>
              </a:spcAft>
              <a:buSzPct val="100000"/>
              <a:buChar char="•"/>
            </a:pPr>
            <a:r>
              <a:rPr lang="en-US" sz="1600" b="1" dirty="0">
                <a:solidFill>
                  <a:schemeClr val="tx1"/>
                </a:solidFill>
              </a:rPr>
              <a:t>Storage engine: </a:t>
            </a:r>
            <a:pPr indent="0" marL="0">
              <a:spcAft>
                <a:spcPts val="200"/>
              </a:spcAft>
              <a:buNone/>
            </a:pPr>
            <a:r>
              <a:rPr lang="en-US" sz="1600" dirty="0">
                <a:solidFill>
                  <a:schemeClr val="tx1"/>
                </a:solidFill>
              </a:rPr>
              <a:t>the component that handles how table data is stored and accessed</a:t>
            </a:r>
            <a:endParaRPr lang="en-US" sz="1600" dirty="0"/>
          </a:p>
        </p:txBody>
      </p:sp>
      <p:sp>
        <p:nvSpPr>
          <p:cNvPr id="4" name="Text 2"/>
          <p:cNvSpPr/>
          <p:nvPr/>
        </p:nvSpPr>
        <p:spPr>
          <a:xfrm>
            <a:off x="457200" y="2788920"/>
            <a:ext cx="1463040" cy="1463040"/>
          </a:xfrm>
          <a:prstGeom prst="rect">
            <a:avLst/>
          </a:prstGeom>
          <a:solidFill>
            <a:schemeClr val="bg2"/>
          </a:solidFill>
          <a:ln/>
        </p:spPr>
        <p:txBody>
          <a:bodyPr wrap="square" lIns="76200" tIns="76200" rIns="76200" bIns="76200" rtlCol="0" anchor="t"/>
          <a:lstStyle/>
          <a:p>
            <a:pPr indent="0" marL="0">
              <a:spcAft>
                <a:spcPts val="400"/>
              </a:spcAft>
              <a:buNone/>
            </a:pPr>
            <a:r>
              <a:rPr lang="en-US" sz="1300" b="1" dirty="0">
                <a:solidFill>
                  <a:schemeClr val="tx2"/>
                </a:solidFill>
              </a:rPr>
              <a:t>1. Client</a:t>
            </a:r>
            <a:endParaRPr lang="en-US" sz="1300" dirty="0"/>
          </a:p>
          <a:p>
            <a:pPr indent="0" marL="0">
              <a:buNone/>
            </a:pPr>
            <a:r>
              <a:rPr lang="en-US" sz="1200" dirty="0">
                <a:solidFill>
                  <a:srgbClr val="000000"/>
                </a:solidFill>
              </a:rPr>
              <a:t>Sends an SQL query</a:t>
            </a:r>
            <a:endParaRPr lang="en-US" sz="1300" dirty="0"/>
          </a:p>
        </p:txBody>
      </p:sp>
      <p:sp>
        <p:nvSpPr>
          <p:cNvPr id="5" name="Shape 3"/>
          <p:cNvSpPr/>
          <p:nvPr/>
        </p:nvSpPr>
        <p:spPr>
          <a:xfrm>
            <a:off x="1920240" y="3520440"/>
            <a:ext cx="228600" cy="0"/>
          </a:xfrm>
          <a:prstGeom prst="line">
            <a:avLst/>
          </a:prstGeom>
          <a:noFill/>
          <a:ln w="19050">
            <a:solidFill>
              <a:srgbClr val="003545"/>
            </a:solidFill>
            <a:prstDash val="solid"/>
            <a:tailEnd type="triangle"/>
          </a:ln>
        </p:spPr>
      </p:sp>
      <p:sp>
        <p:nvSpPr>
          <p:cNvPr id="6" name="Text 4"/>
          <p:cNvSpPr/>
          <p:nvPr/>
        </p:nvSpPr>
        <p:spPr>
          <a:xfrm>
            <a:off x="2148840" y="2788920"/>
            <a:ext cx="1463040" cy="1463040"/>
          </a:xfrm>
          <a:prstGeom prst="rect">
            <a:avLst/>
          </a:prstGeom>
          <a:solidFill>
            <a:schemeClr val="bg2"/>
          </a:solidFill>
          <a:ln/>
        </p:spPr>
        <p:txBody>
          <a:bodyPr wrap="square" lIns="76200" tIns="76200" rIns="76200" bIns="76200" rtlCol="0" anchor="t"/>
          <a:lstStyle/>
          <a:p>
            <a:pPr indent="0" marL="0">
              <a:spcAft>
                <a:spcPts val="400"/>
              </a:spcAft>
              <a:buNone/>
            </a:pPr>
            <a:r>
              <a:rPr lang="en-US" sz="1300" b="1" dirty="0">
                <a:solidFill>
                  <a:schemeClr val="tx2"/>
                </a:solidFill>
              </a:rPr>
              <a:t>2. Connection and authentication</a:t>
            </a:r>
            <a:endParaRPr lang="en-US" sz="1300" dirty="0"/>
          </a:p>
          <a:p>
            <a:pPr indent="0" marL="0">
              <a:buNone/>
            </a:pPr>
            <a:r>
              <a:rPr lang="en-US" sz="1200" dirty="0">
                <a:solidFill>
                  <a:srgbClr val="000000"/>
                </a:solidFill>
              </a:rPr>
              <a:t>Checks connection and user permissions</a:t>
            </a:r>
            <a:endParaRPr lang="en-US" sz="1300" dirty="0"/>
          </a:p>
        </p:txBody>
      </p:sp>
      <p:sp>
        <p:nvSpPr>
          <p:cNvPr id="7" name="Shape 5"/>
          <p:cNvSpPr/>
          <p:nvPr/>
        </p:nvSpPr>
        <p:spPr>
          <a:xfrm>
            <a:off x="3611880" y="3520440"/>
            <a:ext cx="228600" cy="0"/>
          </a:xfrm>
          <a:prstGeom prst="line">
            <a:avLst/>
          </a:prstGeom>
          <a:noFill/>
          <a:ln w="19050">
            <a:solidFill>
              <a:srgbClr val="003545"/>
            </a:solidFill>
            <a:prstDash val="solid"/>
            <a:tailEnd type="triangle"/>
          </a:ln>
        </p:spPr>
      </p:sp>
      <p:sp>
        <p:nvSpPr>
          <p:cNvPr id="8" name="Text 6"/>
          <p:cNvSpPr/>
          <p:nvPr/>
        </p:nvSpPr>
        <p:spPr>
          <a:xfrm>
            <a:off x="3840480" y="2788920"/>
            <a:ext cx="1463040" cy="1463040"/>
          </a:xfrm>
          <a:prstGeom prst="rect">
            <a:avLst/>
          </a:prstGeom>
          <a:solidFill>
            <a:schemeClr val="bg2"/>
          </a:solidFill>
          <a:ln/>
        </p:spPr>
        <p:txBody>
          <a:bodyPr wrap="square" lIns="76200" tIns="76200" rIns="76200" bIns="76200" rtlCol="0" anchor="t"/>
          <a:lstStyle/>
          <a:p>
            <a:pPr indent="0" marL="0">
              <a:spcAft>
                <a:spcPts val="400"/>
              </a:spcAft>
              <a:buNone/>
            </a:pPr>
            <a:r>
              <a:rPr lang="en-US" sz="1300" b="1" dirty="0">
                <a:solidFill>
                  <a:schemeClr val="tx2"/>
                </a:solidFill>
              </a:rPr>
              <a:t>3. SQL processing and optimization</a:t>
            </a:r>
            <a:endParaRPr lang="en-US" sz="1300" dirty="0"/>
          </a:p>
          <a:p>
            <a:pPr indent="0" marL="0">
              <a:buNone/>
            </a:pPr>
            <a:r>
              <a:rPr lang="en-US" sz="1200" dirty="0">
                <a:solidFill>
                  <a:srgbClr val="000000"/>
                </a:solidFill>
              </a:rPr>
              <a:t>Understands the query and plans execution</a:t>
            </a:r>
            <a:endParaRPr lang="en-US" sz="1300" dirty="0"/>
          </a:p>
        </p:txBody>
      </p:sp>
      <p:sp>
        <p:nvSpPr>
          <p:cNvPr id="9" name="Shape 7"/>
          <p:cNvSpPr/>
          <p:nvPr/>
        </p:nvSpPr>
        <p:spPr>
          <a:xfrm>
            <a:off x="5303520" y="3520440"/>
            <a:ext cx="228600" cy="0"/>
          </a:xfrm>
          <a:prstGeom prst="line">
            <a:avLst/>
          </a:prstGeom>
          <a:noFill/>
          <a:ln w="19050">
            <a:solidFill>
              <a:srgbClr val="003545"/>
            </a:solidFill>
            <a:prstDash val="solid"/>
            <a:tailEnd type="triangle"/>
          </a:ln>
        </p:spPr>
      </p:sp>
      <p:sp>
        <p:nvSpPr>
          <p:cNvPr id="10" name="Text 8"/>
          <p:cNvSpPr/>
          <p:nvPr/>
        </p:nvSpPr>
        <p:spPr>
          <a:xfrm>
            <a:off x="5532120" y="2788920"/>
            <a:ext cx="1463040" cy="1463040"/>
          </a:xfrm>
          <a:prstGeom prst="rect">
            <a:avLst/>
          </a:prstGeom>
          <a:solidFill>
            <a:schemeClr val="bg2"/>
          </a:solidFill>
          <a:ln/>
        </p:spPr>
        <p:txBody>
          <a:bodyPr wrap="square" lIns="76200" tIns="76200" rIns="76200" bIns="76200" rtlCol="0" anchor="t"/>
          <a:lstStyle/>
          <a:p>
            <a:pPr indent="0" marL="0">
              <a:spcAft>
                <a:spcPts val="400"/>
              </a:spcAft>
              <a:buNone/>
            </a:pPr>
            <a:r>
              <a:rPr lang="en-US" sz="1300" b="1" dirty="0">
                <a:solidFill>
                  <a:schemeClr val="tx2"/>
                </a:solidFill>
              </a:rPr>
              <a:t>4. Storage engine</a:t>
            </a:r>
            <a:endParaRPr lang="en-US" sz="1300" dirty="0"/>
          </a:p>
          <a:p>
            <a:pPr indent="0" marL="0">
              <a:buNone/>
            </a:pPr>
            <a:r>
              <a:rPr lang="en-US" sz="1200" dirty="0">
                <a:solidFill>
                  <a:srgbClr val="000000"/>
                </a:solidFill>
              </a:rPr>
              <a:t>Reads, writes and manages table data</a:t>
            </a:r>
            <a:endParaRPr lang="en-US" sz="1300" dirty="0"/>
          </a:p>
        </p:txBody>
      </p:sp>
      <p:sp>
        <p:nvSpPr>
          <p:cNvPr id="11" name="Shape 9"/>
          <p:cNvSpPr/>
          <p:nvPr/>
        </p:nvSpPr>
        <p:spPr>
          <a:xfrm>
            <a:off x="6995160" y="3520440"/>
            <a:ext cx="228600" cy="0"/>
          </a:xfrm>
          <a:prstGeom prst="line">
            <a:avLst/>
          </a:prstGeom>
          <a:noFill/>
          <a:ln w="19050">
            <a:solidFill>
              <a:srgbClr val="003545"/>
            </a:solidFill>
            <a:prstDash val="solid"/>
            <a:tailEnd type="triangle"/>
          </a:ln>
        </p:spPr>
      </p:sp>
      <p:sp>
        <p:nvSpPr>
          <p:cNvPr id="12" name="Text 10"/>
          <p:cNvSpPr/>
          <p:nvPr/>
        </p:nvSpPr>
        <p:spPr>
          <a:xfrm>
            <a:off x="7223760" y="2788920"/>
            <a:ext cx="1463040" cy="1463040"/>
          </a:xfrm>
          <a:prstGeom prst="rect">
            <a:avLst/>
          </a:prstGeom>
          <a:solidFill>
            <a:schemeClr val="bg2"/>
          </a:solidFill>
          <a:ln/>
        </p:spPr>
        <p:txBody>
          <a:bodyPr wrap="square" lIns="76200" tIns="76200" rIns="76200" bIns="76200" rtlCol="0" anchor="t"/>
          <a:lstStyle/>
          <a:p>
            <a:pPr indent="0" marL="0">
              <a:spcAft>
                <a:spcPts val="400"/>
              </a:spcAft>
              <a:buNone/>
            </a:pPr>
            <a:r>
              <a:rPr lang="en-US" sz="1300" b="1" dirty="0">
                <a:solidFill>
                  <a:schemeClr val="tx2"/>
                </a:solidFill>
              </a:rPr>
              <a:t>5. Result returned</a:t>
            </a:r>
            <a:endParaRPr lang="en-US" sz="1300" dirty="0"/>
          </a:p>
          <a:p>
            <a:pPr indent="0" marL="0">
              <a:buNone/>
            </a:pPr>
            <a:r>
              <a:rPr lang="en-US" sz="1200" dirty="0">
                <a:solidFill>
                  <a:srgbClr val="000000"/>
                </a:solidFill>
              </a:rPr>
              <a:t>Client displays the requested information</a:t>
            </a:r>
            <a:endParaRPr lang="en-US" sz="1300" dirty="0"/>
          </a:p>
        </p:txBody>
      </p:sp>
      <p:sp>
        <p:nvSpPr>
          <p:cNvPr id="13" name="Text 11"/>
          <p:cNvSpPr txBox="1"/>
          <p:nvPr/>
        </p:nvSpPr>
        <p:spPr>
          <a:xfrm>
            <a:off x="457200" y="4297680"/>
            <a:ext cx="8229600" cy="457200"/>
          </a:xfrm>
          <a:prstGeom prst="rect">
            <a:avLst/>
          </a:prstGeom>
          <a:noFill/>
          <a:ln/>
        </p:spPr>
        <p:txBody>
          <a:bodyPr wrap="square" lIns="50800" tIns="50800" rIns="50800" bIns="50800" rtlCol="0" anchor="ctr"/>
          <a:lstStyle/>
          <a:p>
            <a:pPr indent="0" marL="0">
              <a:buNone/>
            </a:pPr>
            <a:r>
              <a:rPr lang="en-US" sz="1300" dirty="0">
                <a:solidFill>
                  <a:schemeClr val="tx1"/>
                </a:solidFill>
              </a:rPr>
              <a:t>Remember: the client sends the request, the server processes it, the storage engine manages the data, and the result goes back to the client.</a:t>
            </a:r>
            <a:endParaRPr lang="en-US" sz="13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Example: Following a Query</a:t>
            </a:r>
            <a:endParaRPr lang="en-US" sz="3000" dirty="0"/>
          </a:p>
        </p:txBody>
      </p:sp>
      <p:sp>
        <p:nvSpPr>
          <p:cNvPr id="3" name="Text 1"/>
          <p:cNvSpPr txBox="1"/>
          <p:nvPr/>
        </p:nvSpPr>
        <p:spPr>
          <a:xfrm>
            <a:off x="457200" y="1097280"/>
            <a:ext cx="8229600" cy="457200"/>
          </a:xfrm>
          <a:prstGeom prst="rect">
            <a:avLst/>
          </a:prstGeom>
          <a:solidFill>
            <a:schemeClr val="bg2"/>
          </a:solidFill>
          <a:ln/>
        </p:spPr>
        <p:txBody>
          <a:bodyPr wrap="square" lIns="101600" tIns="101600" rIns="101600" bIns="101600" rtlCol="0" anchor="t"/>
          <a:lstStyle/>
          <a:p>
            <a:pPr indent="0" marL="0">
              <a:buNone/>
            </a:pPr>
            <a:r>
              <a:rPr lang="en-US" sz="1600" dirty="0">
                <a:solidFill>
                  <a:schemeClr val="tx1"/>
                </a:solidFill>
                <a:latin typeface="Courier New" pitchFamily="34" charset="0"/>
                <a:ea typeface="Courier New" pitchFamily="34" charset="-122"/>
                <a:cs typeface="Courier New" pitchFamily="34" charset="-120"/>
              </a:rPr>
              <a:t>SELECT * FROM Student WHERE StudentID = 101;</a:t>
            </a:r>
            <a:endParaRPr lang="en-US" sz="1600" dirty="0"/>
          </a:p>
        </p:txBody>
      </p:sp>
      <p:sp>
        <p:nvSpPr>
          <p:cNvPr id="4" name="Text 2"/>
          <p:cNvSpPr txBox="1"/>
          <p:nvPr/>
        </p:nvSpPr>
        <p:spPr>
          <a:xfrm>
            <a:off x="457200" y="1691640"/>
            <a:ext cx="5212080" cy="3017520"/>
          </a:xfrm>
          <a:prstGeom prst="rect">
            <a:avLst/>
          </a:prstGeom>
          <a:noFill/>
          <a:ln/>
        </p:spPr>
        <p:txBody>
          <a:bodyPr wrap="square" lIns="50800" tIns="50800" rIns="50800" bIns="50800" rtlCol="0" anchor="t"/>
          <a:lstStyle/>
          <a:p>
            <a:pPr marL="190500" indent="-190500">
              <a:spcAft>
                <a:spcPts val="300"/>
              </a:spcAft>
              <a:buSzPct val="100000"/>
              <a:buChar char="•"/>
            </a:pPr>
            <a:r>
              <a:rPr lang="en-US" sz="1400" b="1" dirty="0">
                <a:solidFill>
                  <a:schemeClr val="tx1"/>
                </a:solidFill>
              </a:rPr>
              <a:t>Receive: </a:t>
            </a:r>
            <a:pPr indent="0" marL="0">
              <a:spcAft>
                <a:spcPts val="300"/>
              </a:spcAft>
              <a:buNone/>
            </a:pPr>
            <a:r>
              <a:rPr lang="en-US" sz="1400" dirty="0">
                <a:solidFill>
                  <a:schemeClr val="tx1"/>
                </a:solidFill>
              </a:rPr>
              <a:t>client sends the SQL command via a network connection or local socket</a:t>
            </a:r>
            <a:endParaRPr lang="en-US" sz="1400" dirty="0"/>
          </a:p>
          <a:p>
            <a:pPr marL="190500" indent="-190500">
              <a:spcAft>
                <a:spcPts val="300"/>
              </a:spcAft>
              <a:buSzPct val="100000"/>
              <a:buChar char="•"/>
            </a:pPr>
            <a:r>
              <a:rPr lang="en-US" sz="1400" b="1" dirty="0">
                <a:solidFill>
                  <a:schemeClr val="tx1"/>
                </a:solidFill>
              </a:rPr>
              <a:t>Authenticate: </a:t>
            </a:r>
            <a:pPr indent="0" marL="0">
              <a:spcAft>
                <a:spcPts val="300"/>
              </a:spcAft>
              <a:buNone/>
            </a:pPr>
            <a:r>
              <a:rPr lang="en-US" sz="1400" dirty="0">
                <a:solidFill>
                  <a:schemeClr val="tx1"/>
                </a:solidFill>
              </a:rPr>
              <a:t>checks the user may connect and has permission</a:t>
            </a:r>
            <a:endParaRPr lang="en-US" sz="1400" dirty="0"/>
          </a:p>
          <a:p>
            <a:pPr marL="190500" indent="-190500">
              <a:spcAft>
                <a:spcPts val="300"/>
              </a:spcAft>
              <a:buSzPct val="100000"/>
              <a:buChar char="•"/>
            </a:pPr>
            <a:r>
              <a:rPr lang="en-US" sz="1400" b="1" dirty="0">
                <a:solidFill>
                  <a:schemeClr val="tx1"/>
                </a:solidFill>
              </a:rPr>
              <a:t>Parse: </a:t>
            </a:r>
            <a:pPr indent="0" marL="0">
              <a:spcAft>
                <a:spcPts val="300"/>
              </a:spcAft>
              <a:buNone/>
            </a:pPr>
            <a:r>
              <a:rPr lang="en-US" sz="1400" dirty="0">
                <a:solidFill>
                  <a:schemeClr val="tx1"/>
                </a:solidFill>
              </a:rPr>
              <a:t>checks the syntax and understands the request (a misspelled keyword may cause a syntax error)</a:t>
            </a:r>
            <a:endParaRPr lang="en-US" sz="1400" dirty="0"/>
          </a:p>
          <a:p>
            <a:pPr marL="190500" indent="-190500">
              <a:spcAft>
                <a:spcPts val="300"/>
              </a:spcAft>
              <a:buSzPct val="100000"/>
              <a:buChar char="•"/>
            </a:pPr>
            <a:r>
              <a:rPr lang="en-US" sz="1400" b="1" dirty="0">
                <a:solidFill>
                  <a:schemeClr val="tx1"/>
                </a:solidFill>
              </a:rPr>
              <a:t>Optimize: </a:t>
            </a:r>
            <a:pPr indent="0" marL="0">
              <a:spcAft>
                <a:spcPts val="300"/>
              </a:spcAft>
              <a:buNone/>
            </a:pPr>
            <a:r>
              <a:rPr lang="en-US" sz="1400" dirty="0">
                <a:solidFill>
                  <a:schemeClr val="tx1"/>
                </a:solidFill>
              </a:rPr>
              <a:t>considers efficient ways to get the data; may use an index instead of examining every row</a:t>
            </a:r>
            <a:endParaRPr lang="en-US" sz="1400" dirty="0"/>
          </a:p>
          <a:p>
            <a:pPr marL="190500" indent="-190500">
              <a:spcAft>
                <a:spcPts val="300"/>
              </a:spcAft>
              <a:buSzPct val="100000"/>
              <a:buChar char="•"/>
            </a:pPr>
            <a:r>
              <a:rPr lang="en-US" sz="1400" b="1" dirty="0">
                <a:solidFill>
                  <a:schemeClr val="tx1"/>
                </a:solidFill>
              </a:rPr>
              <a:t>Execute: </a:t>
            </a:r>
            <a:pPr indent="0" marL="0">
              <a:spcAft>
                <a:spcPts val="300"/>
              </a:spcAft>
              <a:buNone/>
            </a:pPr>
            <a:r>
              <a:rPr lang="en-US" sz="1400" dirty="0">
                <a:solidFill>
                  <a:schemeClr val="tx1"/>
                </a:solidFill>
              </a:rPr>
              <a:t>the storage engine does the reads or writes (with InnoDB, also data access and transaction operations)</a:t>
            </a:r>
            <a:endParaRPr lang="en-US" sz="1400" dirty="0"/>
          </a:p>
          <a:p>
            <a:pPr marL="190500" indent="-190500">
              <a:spcAft>
                <a:spcPts val="300"/>
              </a:spcAft>
              <a:buSzPct val="100000"/>
              <a:buChar char="•"/>
            </a:pPr>
            <a:r>
              <a:rPr lang="en-US" sz="1400" b="1" dirty="0">
                <a:solidFill>
                  <a:schemeClr val="tx1"/>
                </a:solidFill>
              </a:rPr>
              <a:t>Return: </a:t>
            </a:r>
            <a:pPr indent="0" marL="0">
              <a:spcAft>
                <a:spcPts val="300"/>
              </a:spcAft>
              <a:buNone/>
            </a:pPr>
            <a:r>
              <a:rPr lang="en-US" sz="1400" dirty="0">
                <a:solidFill>
                  <a:schemeClr val="tx1"/>
                </a:solidFill>
              </a:rPr>
              <a:t>sends the matching record to the client</a:t>
            </a:r>
            <a:endParaRPr lang="en-US" sz="1400" dirty="0"/>
          </a:p>
        </p:txBody>
      </p:sp>
      <p:sp>
        <p:nvSpPr>
          <p:cNvPr id="5" name="Text 3"/>
          <p:cNvSpPr txBox="1"/>
          <p:nvPr/>
        </p:nvSpPr>
        <p:spPr>
          <a:xfrm>
            <a:off x="5943600" y="1691640"/>
            <a:ext cx="2743200" cy="274320"/>
          </a:xfrm>
          <a:prstGeom prst="rect">
            <a:avLst/>
          </a:prstGeom>
          <a:noFill/>
          <a:ln/>
        </p:spPr>
        <p:txBody>
          <a:bodyPr wrap="square" lIns="25400" tIns="25400" rIns="25400" bIns="25400" rtlCol="0" anchor="ctr"/>
          <a:lstStyle/>
          <a:p>
            <a:pPr indent="0" marL="0">
              <a:buNone/>
            </a:pPr>
            <a:r>
              <a:rPr lang="en-US" sz="1400" b="1" dirty="0">
                <a:solidFill>
                  <a:schemeClr val="tx2"/>
                </a:solidFill>
              </a:rPr>
              <a:t>Result</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0" y="2011680"/>
          <a:ext cx="2834640" cy="914400"/>
        </p:xfrm>
        <a:graphic>
          <a:graphicData uri="http://schemas.openxmlformats.org/drawingml/2006/table">
            <a:tbl>
              <a:tblPr/>
              <a:tblGrid>
                <a:gridCol w="1234440"/>
                <a:gridCol w="868680"/>
                <a:gridCol w="731520"/>
              </a:tblGrid>
              <a:tr h="3200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StudentID</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Name</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Dept</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r>
              <a:tr h="32004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101</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Rahul</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CSE</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bl>
          </a:graphicData>
        </a:graphic>
      </p:graphicFrame>
      <p:pic>
        <p:nvPicPr>
          <p:cNvPr id="7" name="Image 0" descr="Query processing illustration">    </p:cNvPr>
          <p:cNvPicPr>
            <a:picLocks noChangeAspect="1"/>
          </p:cNvPicPr>
          <p:nvPr/>
        </p:nvPicPr>
        <p:blipFill>
          <a:blip r:embed="rId1"/>
          <a:stretch>
            <a:fillRect/>
          </a:stretch>
        </p:blipFill>
        <p:spPr>
          <a:xfrm>
            <a:off x="6717078" y="2743200"/>
            <a:ext cx="1470564" cy="2011680"/>
          </a:xfrm>
          <a:prstGeom prst="rect">
            <a:avLst/>
          </a:prstGeom>
        </p:spPr>
      </p:pic>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Storage Engines: InnoDB, MyISAM and Aria</a:t>
            </a:r>
            <a:endParaRPr lang="en-US" sz="3000" dirty="0"/>
          </a:p>
        </p:txBody>
      </p:sp>
      <p:sp>
        <p:nvSpPr>
          <p:cNvPr id="3" name="Text 1"/>
          <p:cNvSpPr txBox="1"/>
          <p:nvPr/>
        </p:nvSpPr>
        <p:spPr>
          <a:xfrm>
            <a:off x="457200" y="1051560"/>
            <a:ext cx="8229600" cy="1097280"/>
          </a:xfrm>
          <a:prstGeom prst="rect">
            <a:avLst/>
          </a:prstGeom>
          <a:noFill/>
          <a:ln/>
        </p:spPr>
        <p:txBody>
          <a:bodyPr wrap="square" lIns="50800" tIns="50800" rIns="50800" bIns="50800" rtlCol="0" anchor="t"/>
          <a:lstStyle/>
          <a:p>
            <a:pPr marL="190500" indent="-190500">
              <a:spcAft>
                <a:spcPts val="300"/>
              </a:spcAft>
              <a:buSzPct val="100000"/>
              <a:buChar char="•"/>
            </a:pPr>
            <a:r>
              <a:rPr lang="en-US" sz="1400" dirty="0">
                <a:solidFill>
                  <a:schemeClr val="tx1"/>
                </a:solidFill>
              </a:rPr>
              <a:t>A storage engine controls how a table's data is stored, accessed, locked, and recovered after a failure</a:t>
            </a:r>
            <a:endParaRPr lang="en-US" sz="1400" dirty="0"/>
          </a:p>
          <a:p>
            <a:pPr marL="190500" indent="-190500">
              <a:spcAft>
                <a:spcPts val="300"/>
              </a:spcAft>
              <a:buSzPct val="100000"/>
              <a:buChar char="•"/>
            </a:pPr>
            <a:r>
              <a:rPr lang="en-US" sz="1400" dirty="0">
                <a:solidFill>
                  <a:schemeClr val="tx1"/>
                </a:solidFill>
              </a:rPr>
              <a:t>MariaDB supports different storage engines because not every application has the same requirements</a:t>
            </a:r>
            <a:endParaRPr lang="en-US" sz="1400" dirty="0"/>
          </a:p>
        </p:txBody>
      </p:sp>
      <p:sp>
        <p:nvSpPr>
          <p:cNvPr id="4" name="Text 2"/>
          <p:cNvSpPr/>
          <p:nvPr/>
        </p:nvSpPr>
        <p:spPr>
          <a:xfrm>
            <a:off x="457200" y="2286000"/>
            <a:ext cx="2651760" cy="246888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InnoDB (best starting point)</a:t>
            </a:r>
            <a:endParaRPr lang="en-US" sz="1400" dirty="0"/>
          </a:p>
          <a:p>
            <a:pPr marL="190500" indent="-190500">
              <a:spcAft>
                <a:spcPts val="300"/>
              </a:spcAft>
              <a:buSzPct val="100000"/>
              <a:buChar char="•"/>
            </a:pPr>
            <a:r>
              <a:rPr lang="en-US" sz="1100" dirty="0">
                <a:solidFill>
                  <a:schemeClr val="tx1"/>
                </a:solidFill>
              </a:rPr>
              <a:t>Default engine in modern MariaDB</a:t>
            </a:r>
            <a:endParaRPr lang="en-US" sz="1400" dirty="0"/>
          </a:p>
          <a:p>
            <a:pPr marL="190500" indent="-190500">
              <a:spcAft>
                <a:spcPts val="300"/>
              </a:spcAft>
              <a:buSzPct val="100000"/>
              <a:buChar char="•"/>
            </a:pPr>
            <a:r>
              <a:rPr lang="en-US" sz="1100" dirty="0">
                <a:solidFill>
                  <a:schemeClr val="tx1"/>
                </a:solidFill>
              </a:rPr>
              <a:t>Supports transactions and ACID properties, and foreign keys</a:t>
            </a:r>
            <a:endParaRPr lang="en-US" sz="1400" dirty="0"/>
          </a:p>
          <a:p>
            <a:pPr marL="190500" indent="-190500">
              <a:spcAft>
                <a:spcPts val="300"/>
              </a:spcAft>
              <a:buSzPct val="100000"/>
              <a:buChar char="•"/>
            </a:pPr>
            <a:r>
              <a:rPr lang="en-US" sz="1100" dirty="0">
                <a:solidFill>
                  <a:schemeClr val="tx1"/>
                </a:solidFill>
              </a:rPr>
              <a:t>Row-level locking for ordinary row operations; crash recovery</a:t>
            </a:r>
            <a:endParaRPr lang="en-US" sz="1400" dirty="0"/>
          </a:p>
          <a:p>
            <a:pPr marL="190500" indent="-190500">
              <a:spcAft>
                <a:spcPts val="300"/>
              </a:spcAft>
              <a:buSzPct val="100000"/>
              <a:buChar char="•"/>
            </a:pPr>
            <a:r>
              <a:rPr lang="en-US" sz="1100" dirty="0">
                <a:solidFill>
                  <a:schemeClr val="tx1"/>
                </a:solidFill>
              </a:rPr>
              <a:t>Example: a college fee-payment system where a payment record must be reliable</a:t>
            </a:r>
            <a:endParaRPr lang="en-US" sz="1400" dirty="0"/>
          </a:p>
        </p:txBody>
      </p:sp>
      <p:sp>
        <p:nvSpPr>
          <p:cNvPr id="5" name="Text 3"/>
          <p:cNvSpPr/>
          <p:nvPr/>
        </p:nvSpPr>
        <p:spPr>
          <a:xfrm>
            <a:off x="3246120" y="2286000"/>
            <a:ext cx="2651760" cy="246888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MyISAM</a:t>
            </a:r>
            <a:endParaRPr lang="en-US" sz="1400" dirty="0"/>
          </a:p>
          <a:p>
            <a:pPr marL="190500" indent="-190500">
              <a:spcAft>
                <a:spcPts val="300"/>
              </a:spcAft>
              <a:buSzPct val="100000"/>
              <a:buChar char="•"/>
            </a:pPr>
            <a:r>
              <a:rPr lang="en-US" sz="1100" dirty="0">
                <a:solidFill>
                  <a:schemeClr val="tx1"/>
                </a:solidFill>
              </a:rPr>
              <a:t>Non-transactional; useful for certain read-heavy workloads</a:t>
            </a:r>
            <a:endParaRPr lang="en-US" sz="1400" dirty="0"/>
          </a:p>
          <a:p>
            <a:pPr marL="190500" indent="-190500">
              <a:spcAft>
                <a:spcPts val="300"/>
              </a:spcAft>
              <a:buSzPct val="100000"/>
              <a:buChar char="•"/>
            </a:pPr>
            <a:r>
              <a:rPr lang="en-US" sz="1100" dirty="0">
                <a:solidFill>
                  <a:schemeClr val="tx1"/>
                </a:solidFill>
              </a:rPr>
              <a:t>No transactions or foreign keys</a:t>
            </a:r>
            <a:endParaRPr lang="en-US" sz="1400" dirty="0"/>
          </a:p>
          <a:p>
            <a:pPr marL="190500" indent="-190500">
              <a:spcAft>
                <a:spcPts val="300"/>
              </a:spcAft>
              <a:buSzPct val="100000"/>
              <a:buChar char="•"/>
            </a:pPr>
            <a:r>
              <a:rPr lang="en-US" sz="1100" dirty="0">
                <a:solidFill>
                  <a:schemeClr val="tx1"/>
                </a:solidFill>
              </a:rPr>
              <a:t>Table-level locking; no InnoDB-style crash recovery</a:t>
            </a:r>
            <a:endParaRPr lang="en-US" sz="1400" dirty="0"/>
          </a:p>
          <a:p>
            <a:pPr marL="190500" indent="-190500">
              <a:spcAft>
                <a:spcPts val="300"/>
              </a:spcAft>
              <a:buSzPct val="100000"/>
              <a:buChar char="•"/>
            </a:pPr>
            <a:r>
              <a:rPr lang="en-US" sz="1100" dirty="0">
                <a:solidFill>
                  <a:schemeClr val="tx1"/>
                </a:solidFill>
              </a:rPr>
              <a:t>Example: a simple read-only dataset</a:t>
            </a:r>
            <a:endParaRPr lang="en-US" sz="1400" dirty="0"/>
          </a:p>
        </p:txBody>
      </p:sp>
      <p:sp>
        <p:nvSpPr>
          <p:cNvPr id="6" name="Text 4"/>
          <p:cNvSpPr/>
          <p:nvPr/>
        </p:nvSpPr>
        <p:spPr>
          <a:xfrm>
            <a:off x="6035040" y="2286000"/>
            <a:ext cx="2651760" cy="246888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Aria</a:t>
            </a:r>
            <a:endParaRPr lang="en-US" sz="1400" dirty="0"/>
          </a:p>
          <a:p>
            <a:pPr marL="190500" indent="-190500">
              <a:spcAft>
                <a:spcPts val="300"/>
              </a:spcAft>
              <a:buSzPct val="100000"/>
              <a:buChar char="•"/>
            </a:pPr>
            <a:r>
              <a:rPr lang="en-US" sz="1100" dirty="0">
                <a:solidFill>
                  <a:schemeClr val="tx1"/>
                </a:solidFill>
              </a:rPr>
              <a:t>Developed for MariaDB; crash-safe table operations for supported use cases</a:t>
            </a:r>
            <a:endParaRPr lang="en-US" sz="1400" dirty="0"/>
          </a:p>
          <a:p>
            <a:pPr marL="190500" indent="-190500">
              <a:spcAft>
                <a:spcPts val="300"/>
              </a:spcAft>
              <a:buSzPct val="100000"/>
              <a:buChar char="•"/>
            </a:pPr>
            <a:r>
              <a:rPr lang="en-US" sz="1100" dirty="0">
                <a:solidFill>
                  <a:schemeClr val="tx1"/>
                </a:solidFill>
              </a:rPr>
              <a:t>Useful for certain internal operations and temporary tables</a:t>
            </a:r>
            <a:endParaRPr lang="en-US" sz="1400" dirty="0"/>
          </a:p>
          <a:p>
            <a:pPr marL="190500" indent="-190500">
              <a:spcAft>
                <a:spcPts val="300"/>
              </a:spcAft>
              <a:buSzPct val="100000"/>
              <a:buChar char="•"/>
            </a:pPr>
            <a:r>
              <a:rPr lang="en-US" sz="1100" dirty="0">
                <a:solidFill>
                  <a:schemeClr val="tx1"/>
                </a:solidFill>
              </a:rPr>
              <a:t>Not a general replacement for InnoDB's transactions and foreign keys</a:t>
            </a:r>
            <a:endParaRPr lang="en-US" sz="1400" dirty="0"/>
          </a:p>
          <a:p>
            <a:pPr marL="190500" indent="-190500">
              <a:spcAft>
                <a:spcPts val="300"/>
              </a:spcAft>
              <a:buSzPct val="100000"/>
              <a:buChar char="•"/>
            </a:pPr>
            <a:r>
              <a:rPr lang="en-US" sz="1100" dirty="0">
                <a:solidFill>
                  <a:schemeClr val="tx1"/>
                </a:solidFill>
              </a:rPr>
              <a:t>Example: temporary or internal query-processing tables</a:t>
            </a:r>
            <a:endParaRPr lang="en-US" sz="14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Storage Engines: Quick Comparison</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5669280" cy="914400"/>
        </p:xfrm>
        <a:graphic>
          <a:graphicData uri="http://schemas.openxmlformats.org/drawingml/2006/table">
            <a:tbl>
              <a:tblPr/>
              <a:tblGrid>
                <a:gridCol w="1097280"/>
                <a:gridCol w="1554480"/>
                <a:gridCol w="1280160"/>
                <a:gridCol w="173736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InnoDB</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MyISAM</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Aria</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r>
              <a:tr h="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Transactions</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Not a general transactional replacement</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Foreign keys</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No InnoDB-style FK support</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Locking</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Row-level for ordinary row operations</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Table-level</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Depends on operation; not equivalent to InnoDB</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Crash recovery</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Transactional recovery</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Limited vs InnoDB</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Crash-safe design for supported operations</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Typical role</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Main application data</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Certain read-heavy tables</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Internal and temporary-table workloads</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bl>
          </a:graphicData>
        </a:graphic>
      </p:graphicFrame>
      <p:pic>
        <p:nvPicPr>
          <p:cNvPr id="4" name="Image 0" descr="InnoDB versus MyISAM and Aria illustration">    </p:cNvPr>
          <p:cNvPicPr>
            <a:picLocks noChangeAspect="1"/>
          </p:cNvPicPr>
          <p:nvPr/>
        </p:nvPicPr>
        <p:blipFill>
          <a:blip r:embed="rId1"/>
          <a:stretch>
            <a:fillRect/>
          </a:stretch>
        </p:blipFill>
        <p:spPr>
          <a:xfrm>
            <a:off x="6500678" y="1097280"/>
            <a:ext cx="2086243" cy="3017520"/>
          </a:xfrm>
          <a:prstGeom prst="rect">
            <a:avLst/>
          </a:prstGeom>
        </p:spPr>
      </p:pic>
      <p:sp>
        <p:nvSpPr>
          <p:cNvPr id="5" name="Text 1"/>
          <p:cNvSpPr txBox="1"/>
          <p:nvPr/>
        </p:nvSpPr>
        <p:spPr>
          <a:xfrm>
            <a:off x="457200" y="4160520"/>
            <a:ext cx="8229600" cy="640080"/>
          </a:xfrm>
          <a:prstGeom prst="rect">
            <a:avLst/>
          </a:prstGeom>
          <a:noFill/>
          <a:ln/>
        </p:spPr>
        <p:txBody>
          <a:bodyPr wrap="square" lIns="50800" tIns="50800" rIns="50800" bIns="50800" rtlCol="0" anchor="ctr"/>
          <a:lstStyle/>
          <a:p>
            <a:pPr indent="0" marL="0">
              <a:buNone/>
            </a:pPr>
            <a:r>
              <a:rPr lang="en-US" sz="1400" dirty="0">
                <a:solidFill>
                  <a:schemeClr val="tx1"/>
                </a:solidFill>
              </a:rPr>
              <a:t>Which should a beginner choose? For college projects, start with InnoDB. It provides the transactional behavior and foreign keys normally needed for student-management and movie-booking systems.</a:t>
            </a:r>
            <a:endParaRPr lang="en-US" sz="14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Indexing: Searching Data Faster</a:t>
            </a:r>
            <a:endParaRPr lang="en-US" sz="3000" dirty="0"/>
          </a:p>
        </p:txBody>
      </p:sp>
      <p:sp>
        <p:nvSpPr>
          <p:cNvPr id="3" name="Text 1"/>
          <p:cNvSpPr txBox="1"/>
          <p:nvPr/>
        </p:nvSpPr>
        <p:spPr>
          <a:xfrm>
            <a:off x="457200" y="1097280"/>
            <a:ext cx="5486400" cy="1920240"/>
          </a:xfrm>
          <a:prstGeom prst="rect">
            <a:avLst/>
          </a:prstGeom>
          <a:noFill/>
          <a:ln/>
        </p:spPr>
        <p:txBody>
          <a:bodyPr wrap="square" lIns="50800" tIns="50800" rIns="50800" bIns="50800" rtlCol="0" anchor="t"/>
          <a:lstStyle/>
          <a:p>
            <a:pPr marL="190500" indent="-190500">
              <a:spcAft>
                <a:spcPts val="500"/>
              </a:spcAft>
              <a:buSzPct val="100000"/>
              <a:buChar char="•"/>
            </a:pPr>
            <a:r>
              <a:rPr lang="en-US" sz="1400" dirty="0">
                <a:solidFill>
                  <a:schemeClr val="tx1"/>
                </a:solidFill>
              </a:rPr>
              <a:t>Example: a college has one lakh student records and you want to find a student named Rahul</a:t>
            </a:r>
            <a:endParaRPr lang="en-US" sz="1400" dirty="0"/>
          </a:p>
          <a:p>
            <a:pPr marL="190500" indent="-190500">
              <a:spcAft>
                <a:spcPts val="500"/>
              </a:spcAft>
              <a:buSzPct val="100000"/>
              <a:buChar char="•"/>
            </a:pPr>
            <a:r>
              <a:rPr lang="en-US" sz="1400" dirty="0">
                <a:solidFill>
                  <a:schemeClr val="tx1"/>
                </a:solidFill>
              </a:rPr>
              <a:t>Without an index, MariaDB may examine many rows one after another (a table scan)</a:t>
            </a:r>
            <a:endParaRPr lang="en-US" sz="1400" dirty="0"/>
          </a:p>
          <a:p>
            <a:pPr marL="190500" indent="-190500">
              <a:spcAft>
                <a:spcPts val="500"/>
              </a:spcAft>
              <a:buSzPct val="100000"/>
              <a:buChar char="•"/>
            </a:pPr>
            <a:r>
              <a:rPr lang="en-US" sz="1400" dirty="0">
                <a:solidFill>
                  <a:schemeClr val="tx1"/>
                </a:solidFill>
              </a:rPr>
              <a:t>An index is an additional data structure that helps locate matching records more efficiently</a:t>
            </a:r>
            <a:endParaRPr lang="en-US" sz="1400" dirty="0"/>
          </a:p>
          <a:p>
            <a:pPr marL="190500" indent="-190500">
              <a:spcAft>
                <a:spcPts val="500"/>
              </a:spcAft>
              <a:buSzPct val="100000"/>
              <a:buChar char="•"/>
            </a:pPr>
            <a:r>
              <a:rPr lang="en-US" sz="1400" dirty="0">
                <a:solidFill>
                  <a:schemeClr val="tx1"/>
                </a:solidFill>
              </a:rPr>
              <a:t>Like the index at the back of a textbook: check the index instead of reading every page</a:t>
            </a:r>
            <a:endParaRPr lang="en-US" sz="1400" dirty="0"/>
          </a:p>
        </p:txBody>
      </p:sp>
      <p:pic>
        <p:nvPicPr>
          <p:cNvPr id="4" name="Image 0" descr="Database indexing illustration">    </p:cNvPr>
          <p:cNvPicPr>
            <a:picLocks noChangeAspect="1"/>
          </p:cNvPicPr>
          <p:nvPr/>
        </p:nvPicPr>
        <p:blipFill>
          <a:blip r:embed="rId1"/>
          <a:stretch>
            <a:fillRect/>
          </a:stretch>
        </p:blipFill>
        <p:spPr>
          <a:xfrm>
            <a:off x="6541860" y="1051560"/>
            <a:ext cx="1820999" cy="2011680"/>
          </a:xfrm>
          <a:prstGeom prst="rect">
            <a:avLst/>
          </a:prstGeom>
        </p:spPr>
      </p:pic>
      <p:sp>
        <p:nvSpPr>
          <p:cNvPr id="5" name="Text 2"/>
          <p:cNvSpPr txBox="1"/>
          <p:nvPr/>
        </p:nvSpPr>
        <p:spPr>
          <a:xfrm>
            <a:off x="457200" y="3200400"/>
            <a:ext cx="3931920" cy="1097280"/>
          </a:xfrm>
          <a:prstGeom prst="rect">
            <a:avLst/>
          </a:prstGeom>
          <a:solidFill>
            <a:schemeClr val="bg2"/>
          </a:solidFill>
          <a:ln/>
        </p:spPr>
        <p:txBody>
          <a:bodyPr wrap="square" lIns="101600" tIns="101600" rIns="101600" bIns="10160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CREATE INDEX idx_name ON Student(Name);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SELECT * FROM Student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WHERE Name = 'Rahul';</a:t>
            </a:r>
            <a:endParaRPr lang="en-US" sz="1300" dirty="0"/>
          </a:p>
        </p:txBody>
      </p:sp>
      <p:sp>
        <p:nvSpPr>
          <p:cNvPr id="6" name="Text 3"/>
          <p:cNvSpPr txBox="1"/>
          <p:nvPr/>
        </p:nvSpPr>
        <p:spPr>
          <a:xfrm>
            <a:off x="457200" y="4343400"/>
            <a:ext cx="8229600" cy="365760"/>
          </a:xfrm>
          <a:prstGeom prst="rect">
            <a:avLst/>
          </a:prstGeom>
          <a:noFill/>
          <a:ln/>
        </p:spPr>
        <p:txBody>
          <a:bodyPr wrap="square" lIns="50800" tIns="50800" rIns="50800" bIns="50800" rtlCol="0" anchor="ctr"/>
          <a:lstStyle/>
          <a:p>
            <a:pPr indent="0" marL="0">
              <a:buNone/>
            </a:pPr>
            <a:r>
              <a:rPr lang="en-US" sz="1200" dirty="0">
                <a:solidFill>
                  <a:schemeClr val="tx1"/>
                </a:solidFill>
              </a:rPr>
              <a:t>The query may use the index to locate matching rows faster.</a:t>
            </a:r>
            <a:endParaRPr lang="en-US" sz="1200" dirty="0"/>
          </a:p>
        </p:txBody>
      </p:sp>
      <p:sp>
        <p:nvSpPr>
          <p:cNvPr id="7" name="Text 4"/>
          <p:cNvSpPr txBox="1"/>
          <p:nvPr/>
        </p:nvSpPr>
        <p:spPr>
          <a:xfrm>
            <a:off x="4663440" y="3200400"/>
            <a:ext cx="4023360" cy="1463040"/>
          </a:xfrm>
          <a:prstGeom prst="rect">
            <a:avLst/>
          </a:prstGeom>
          <a:noFill/>
          <a:ln/>
        </p:spPr>
        <p:txBody>
          <a:bodyPr wrap="square" lIns="50800" tIns="50800" rIns="50800" bIns="50800" rtlCol="0" anchor="t"/>
          <a:lstStyle/>
          <a:p>
            <a:pPr marL="190500" indent="-190500">
              <a:spcAft>
                <a:spcPts val="300"/>
              </a:spcAft>
              <a:buSzPct val="100000"/>
              <a:buChar char="•"/>
            </a:pPr>
            <a:r>
              <a:rPr lang="en-US" sz="1600" b="1" dirty="0">
                <a:solidFill>
                  <a:schemeClr val="tx1"/>
                </a:solidFill>
              </a:rPr>
              <a:t>CREATE INDEX </a:t>
            </a:r>
            <a:pPr indent="0" marL="0">
              <a:spcAft>
                <a:spcPts val="300"/>
              </a:spcAft>
              <a:buNone/>
            </a:pPr>
            <a:r>
              <a:rPr lang="en-US" sz="1600" dirty="0">
                <a:solidFill>
                  <a:schemeClr val="tx1"/>
                </a:solidFill>
              </a:rPr>
              <a:t>creates an index</a:t>
            </a:r>
            <a:endParaRPr lang="en-US" sz="1600" dirty="0"/>
          </a:p>
          <a:p>
            <a:pPr marL="190500" indent="-190500">
              <a:spcAft>
                <a:spcPts val="300"/>
              </a:spcAft>
              <a:buSzPct val="100000"/>
              <a:buChar char="•"/>
            </a:pPr>
            <a:r>
              <a:rPr lang="en-US" sz="1600" b="1" dirty="0">
                <a:solidFill>
                  <a:schemeClr val="tx1"/>
                </a:solidFill>
              </a:rPr>
              <a:t>idx_name </a:t>
            </a:r>
            <a:pPr indent="0" marL="0">
              <a:spcAft>
                <a:spcPts val="300"/>
              </a:spcAft>
              <a:buNone/>
            </a:pPr>
            <a:r>
              <a:rPr lang="en-US" sz="1600" dirty="0">
                <a:solidFill>
                  <a:schemeClr val="tx1"/>
                </a:solidFill>
              </a:rPr>
              <a:t>the name given to the index</a:t>
            </a:r>
            <a:endParaRPr lang="en-US" sz="1600" dirty="0"/>
          </a:p>
          <a:p>
            <a:pPr marL="190500" indent="-190500">
              <a:spcAft>
                <a:spcPts val="300"/>
              </a:spcAft>
              <a:buSzPct val="100000"/>
              <a:buChar char="•"/>
            </a:pPr>
            <a:r>
              <a:rPr lang="en-US" sz="1600" b="1" dirty="0">
                <a:solidFill>
                  <a:schemeClr val="tx1"/>
                </a:solidFill>
              </a:rPr>
              <a:t>Student </a:t>
            </a:r>
            <a:pPr indent="0" marL="0">
              <a:spcAft>
                <a:spcPts val="300"/>
              </a:spcAft>
              <a:buNone/>
            </a:pPr>
            <a:r>
              <a:rPr lang="en-US" sz="1600" dirty="0">
                <a:solidFill>
                  <a:schemeClr val="tx1"/>
                </a:solidFill>
              </a:rPr>
              <a:t>the table</a:t>
            </a:r>
            <a:endParaRPr lang="en-US" sz="1600" dirty="0"/>
          </a:p>
          <a:p>
            <a:pPr marL="190500" indent="-190500">
              <a:spcAft>
                <a:spcPts val="300"/>
              </a:spcAft>
              <a:buSzPct val="100000"/>
              <a:buChar char="•"/>
            </a:pPr>
            <a:r>
              <a:rPr lang="en-US" sz="1600" b="1" dirty="0">
                <a:solidFill>
                  <a:schemeClr val="tx1"/>
                </a:solidFill>
              </a:rPr>
              <a:t>Name </a:t>
            </a:r>
            <a:pPr indent="0" marL="0">
              <a:spcAft>
                <a:spcPts val="300"/>
              </a:spcAft>
              <a:buNone/>
            </a:pPr>
            <a:r>
              <a:rPr lang="en-US" sz="1600" dirty="0">
                <a:solidFill>
                  <a:schemeClr val="tx1"/>
                </a:solidFill>
              </a:rPr>
              <a:t>the column being indexed</a:t>
            </a:r>
            <a:endParaRPr lang="en-US" sz="16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Index Types, Advantages and Disadvantages</a:t>
            </a:r>
            <a:endParaRPr lang="en-US" sz="3000" dirty="0"/>
          </a:p>
        </p:txBody>
      </p:sp>
      <p:sp>
        <p:nvSpPr>
          <p:cNvPr id="3" name="Text 1"/>
          <p:cNvSpPr/>
          <p:nvPr/>
        </p:nvSpPr>
        <p:spPr>
          <a:xfrm>
            <a:off x="457200" y="1143000"/>
            <a:ext cx="2560320" cy="2834640"/>
          </a:xfrm>
          <a:prstGeom prst="rect">
            <a:avLst/>
          </a:prstGeom>
          <a:solidFill>
            <a:schemeClr val="bg2"/>
          </a:solidFill>
          <a:ln/>
        </p:spPr>
        <p:txBody>
          <a:bodyPr wrap="square" lIns="114300" tIns="114300" rIns="114300" bIns="114300" rtlCol="0" anchor="t"/>
          <a:lstStyle/>
          <a:p>
            <a:pPr indent="0" marL="0">
              <a:spcAft>
                <a:spcPts val="600"/>
              </a:spcAft>
              <a:buNone/>
            </a:pPr>
            <a:r>
              <a:rPr lang="en-US" sz="1600" b="1" dirty="0">
                <a:solidFill>
                  <a:schemeClr val="tx2"/>
                </a:solidFill>
              </a:rPr>
              <a:t>Types</a:t>
            </a:r>
            <a:endParaRPr lang="en-US" sz="1600" dirty="0"/>
          </a:p>
          <a:p>
            <a:pPr marL="190500" indent="-190500">
              <a:spcAft>
                <a:spcPts val="500"/>
              </a:spcAft>
              <a:buSzPct val="100000"/>
              <a:buChar char="•"/>
            </a:pPr>
            <a:r>
              <a:rPr lang="en-US" sz="1300" dirty="0">
                <a:solidFill>
                  <a:schemeClr val="tx1"/>
                </a:solidFill>
              </a:rPr>
              <a:t>B-tree: equality searches, range searches, some sorting</a:t>
            </a:r>
            <a:endParaRPr lang="en-US" sz="1600" dirty="0"/>
          </a:p>
          <a:p>
            <a:pPr marL="190500" indent="-190500">
              <a:spcAft>
                <a:spcPts val="500"/>
              </a:spcAft>
              <a:buSzPct val="100000"/>
              <a:buChar char="•"/>
            </a:pPr>
            <a:r>
              <a:rPr lang="en-US" sz="1300" dirty="0">
                <a:solidFill>
                  <a:schemeClr val="tx1"/>
                </a:solidFill>
              </a:rPr>
              <a:t>Full-text: words and text in supported text columns</a:t>
            </a:r>
            <a:endParaRPr lang="en-US" sz="1600" dirty="0"/>
          </a:p>
          <a:p>
            <a:pPr marL="190500" indent="-190500">
              <a:spcAft>
                <a:spcPts val="500"/>
              </a:spcAft>
              <a:buSzPct val="100000"/>
              <a:buChar char="•"/>
            </a:pPr>
            <a:r>
              <a:rPr lang="en-US" sz="1300" dirty="0">
                <a:solidFill>
                  <a:schemeClr val="tx1"/>
                </a:solidFill>
              </a:rPr>
              <a:t>Spatial: supported geographic or geometric data</a:t>
            </a:r>
            <a:endParaRPr lang="en-US" sz="1600" dirty="0"/>
          </a:p>
        </p:txBody>
      </p:sp>
      <p:sp>
        <p:nvSpPr>
          <p:cNvPr id="4" name="Text 2"/>
          <p:cNvSpPr/>
          <p:nvPr/>
        </p:nvSpPr>
        <p:spPr>
          <a:xfrm>
            <a:off x="3291840" y="1143000"/>
            <a:ext cx="2560320" cy="2834640"/>
          </a:xfrm>
          <a:prstGeom prst="rect">
            <a:avLst/>
          </a:prstGeom>
          <a:solidFill>
            <a:schemeClr val="bg2"/>
          </a:solidFill>
          <a:ln/>
        </p:spPr>
        <p:txBody>
          <a:bodyPr wrap="square" lIns="114300" tIns="114300" rIns="114300" bIns="114300" rtlCol="0" anchor="t"/>
          <a:lstStyle/>
          <a:p>
            <a:pPr indent="0" marL="0">
              <a:spcAft>
                <a:spcPts val="600"/>
              </a:spcAft>
              <a:buNone/>
            </a:pPr>
            <a:r>
              <a:rPr lang="en-US" sz="1600" b="1" dirty="0">
                <a:solidFill>
                  <a:schemeClr val="tx2"/>
                </a:solidFill>
              </a:rPr>
              <a:t>Advantages</a:t>
            </a:r>
            <a:endParaRPr lang="en-US" sz="1600" dirty="0"/>
          </a:p>
          <a:p>
            <a:pPr marL="190500" indent="-190500">
              <a:spcAft>
                <a:spcPts val="500"/>
              </a:spcAft>
              <a:buSzPct val="100000"/>
              <a:buChar char="•"/>
            </a:pPr>
            <a:r>
              <a:rPr lang="en-US" sz="1300" dirty="0">
                <a:solidFill>
                  <a:schemeClr val="tx1"/>
                </a:solidFill>
              </a:rPr>
              <a:t>Faster searches for suitable queries</a:t>
            </a:r>
            <a:endParaRPr lang="en-US" sz="1600" dirty="0"/>
          </a:p>
          <a:p>
            <a:pPr marL="190500" indent="-190500">
              <a:spcAft>
                <a:spcPts val="500"/>
              </a:spcAft>
              <a:buSzPct val="100000"/>
              <a:buChar char="•"/>
            </a:pPr>
            <a:r>
              <a:rPr lang="en-US" sz="1300" dirty="0">
                <a:solidFill>
                  <a:schemeClr val="tx1"/>
                </a:solidFill>
              </a:rPr>
              <a:t>Faster access for some joins</a:t>
            </a:r>
            <a:endParaRPr lang="en-US" sz="1600" dirty="0"/>
          </a:p>
          <a:p>
            <a:pPr marL="190500" indent="-190500">
              <a:spcAft>
                <a:spcPts val="500"/>
              </a:spcAft>
              <a:buSzPct val="100000"/>
              <a:buChar char="•"/>
            </a:pPr>
            <a:r>
              <a:rPr lang="en-US" sz="1300" dirty="0">
                <a:solidFill>
                  <a:schemeClr val="tx1"/>
                </a:solidFill>
              </a:rPr>
              <a:t>Can improve sorting and filtering</a:t>
            </a:r>
            <a:endParaRPr lang="en-US" sz="1600" dirty="0"/>
          </a:p>
          <a:p>
            <a:pPr marL="190500" indent="-190500">
              <a:spcAft>
                <a:spcPts val="500"/>
              </a:spcAft>
              <a:buSzPct val="100000"/>
              <a:buChar char="•"/>
            </a:pPr>
            <a:r>
              <a:rPr lang="en-US" sz="1300" dirty="0">
                <a:solidFill>
                  <a:schemeClr val="tx1"/>
                </a:solidFill>
              </a:rPr>
              <a:t>May reduce the amount of data examined</a:t>
            </a:r>
            <a:endParaRPr lang="en-US" sz="1600" dirty="0"/>
          </a:p>
        </p:txBody>
      </p:sp>
      <p:sp>
        <p:nvSpPr>
          <p:cNvPr id="5" name="Text 3"/>
          <p:cNvSpPr/>
          <p:nvPr/>
        </p:nvSpPr>
        <p:spPr>
          <a:xfrm>
            <a:off x="6126480" y="1143000"/>
            <a:ext cx="2560320" cy="2834640"/>
          </a:xfrm>
          <a:prstGeom prst="rect">
            <a:avLst/>
          </a:prstGeom>
          <a:solidFill>
            <a:schemeClr val="bg2"/>
          </a:solidFill>
          <a:ln/>
        </p:spPr>
        <p:txBody>
          <a:bodyPr wrap="square" lIns="114300" tIns="114300" rIns="114300" bIns="114300" rtlCol="0" anchor="t"/>
          <a:lstStyle/>
          <a:p>
            <a:pPr indent="0" marL="0">
              <a:spcAft>
                <a:spcPts val="600"/>
              </a:spcAft>
              <a:buNone/>
            </a:pPr>
            <a:r>
              <a:rPr lang="en-US" sz="1600" b="1" dirty="0">
                <a:solidFill>
                  <a:schemeClr val="tx2"/>
                </a:solidFill>
              </a:rPr>
              <a:t>Disadvantages</a:t>
            </a:r>
            <a:endParaRPr lang="en-US" sz="1600" dirty="0"/>
          </a:p>
          <a:p>
            <a:pPr marL="190500" indent="-190500">
              <a:spcAft>
                <a:spcPts val="500"/>
              </a:spcAft>
              <a:buSzPct val="100000"/>
              <a:buChar char="•"/>
            </a:pPr>
            <a:r>
              <a:rPr lang="en-US" sz="1300" dirty="0">
                <a:solidFill>
                  <a:schemeClr val="tx1"/>
                </a:solidFill>
              </a:rPr>
              <a:t>Consume disk space</a:t>
            </a:r>
            <a:endParaRPr lang="en-US" sz="1600" dirty="0"/>
          </a:p>
          <a:p>
            <a:pPr marL="190500" indent="-190500">
              <a:spcAft>
                <a:spcPts val="500"/>
              </a:spcAft>
              <a:buSzPct val="100000"/>
              <a:buChar char="•"/>
            </a:pPr>
            <a:r>
              <a:rPr lang="en-US" sz="1300" dirty="0">
                <a:solidFill>
                  <a:schemeClr val="tx1"/>
                </a:solidFill>
              </a:rPr>
              <a:t>Must be maintained when data is inserted, updated, or deleted</a:t>
            </a:r>
            <a:endParaRPr lang="en-US" sz="1600" dirty="0"/>
          </a:p>
          <a:p>
            <a:pPr marL="190500" indent="-190500">
              <a:spcAft>
                <a:spcPts val="500"/>
              </a:spcAft>
              <a:buSzPct val="100000"/>
              <a:buChar char="•"/>
            </a:pPr>
            <a:r>
              <a:rPr lang="en-US" sz="1300" dirty="0">
                <a:solidFill>
                  <a:schemeClr val="tx1"/>
                </a:solidFill>
              </a:rPr>
              <a:t>Too many indexes can slow down writes</a:t>
            </a:r>
            <a:endParaRPr lang="en-US" sz="1600" dirty="0"/>
          </a:p>
        </p:txBody>
      </p:sp>
      <p:sp>
        <p:nvSpPr>
          <p:cNvPr id="6" name="Text 4"/>
          <p:cNvSpPr txBox="1"/>
          <p:nvPr/>
        </p:nvSpPr>
        <p:spPr>
          <a:xfrm>
            <a:off x="457200" y="4114800"/>
            <a:ext cx="8229600" cy="640080"/>
          </a:xfrm>
          <a:prstGeom prst="rect">
            <a:avLst/>
          </a:prstGeom>
          <a:noFill/>
          <a:ln/>
        </p:spPr>
        <p:txBody>
          <a:bodyPr wrap="square" lIns="50800" tIns="50800" rIns="50800" bIns="50800" rtlCol="0" anchor="ctr"/>
          <a:lstStyle/>
          <a:p>
            <a:pPr indent="0" marL="0">
              <a:buNone/>
            </a:pPr>
            <a:r>
              <a:rPr lang="en-US" sz="1500" dirty="0">
                <a:solidFill>
                  <a:schemeClr val="tx1"/>
                </a:solidFill>
              </a:rPr>
              <a:t>Important: an index does not guarantee every query becomes faster. MariaDB's optimizer decides whether using an index is beneficial.</a:t>
            </a:r>
            <a:endParaRPr lang="en-US" sz="15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Transactions</a:t>
            </a:r>
            <a:endParaRPr lang="en-US" sz="3000" dirty="0"/>
          </a:p>
        </p:txBody>
      </p:sp>
      <p:sp>
        <p:nvSpPr>
          <p:cNvPr id="3" name="Text 1"/>
          <p:cNvSpPr txBox="1"/>
          <p:nvPr/>
        </p:nvSpPr>
        <p:spPr>
          <a:xfrm>
            <a:off x="457200" y="1143000"/>
            <a:ext cx="4206240" cy="3566160"/>
          </a:xfrm>
          <a:prstGeom prst="rect">
            <a:avLst/>
          </a:prstGeom>
          <a:noFill/>
          <a:ln/>
        </p:spPr>
        <p:txBody>
          <a:bodyPr wrap="square" lIns="50800" tIns="50800" rIns="50800" bIns="50800" rtlCol="0" anchor="t"/>
          <a:lstStyle/>
          <a:p>
            <a:pPr marL="190500" indent="-190500">
              <a:spcAft>
                <a:spcPts val="500"/>
              </a:spcAft>
              <a:buSzPct val="100000"/>
              <a:buChar char="•"/>
            </a:pPr>
            <a:r>
              <a:rPr lang="en-US" sz="1500" dirty="0">
                <a:solidFill>
                  <a:schemeClr val="tx1"/>
                </a:solidFill>
              </a:rPr>
              <a:t>A transaction is a group of database operations treated as one logical unit</a:t>
            </a:r>
            <a:endParaRPr lang="en-US" sz="1500" dirty="0"/>
          </a:p>
          <a:p>
            <a:pPr marL="190500" indent="-190500">
              <a:spcAft>
                <a:spcPts val="500"/>
              </a:spcAft>
              <a:buSzPct val="100000"/>
              <a:buChar char="•"/>
            </a:pPr>
            <a:r>
              <a:rPr lang="en-US" sz="1500" dirty="0">
                <a:solidFill>
                  <a:schemeClr val="tx1"/>
                </a:solidFill>
              </a:rPr>
              <a:t>Example: bank transfer of ₹500 from Account A to Account B</a:t>
            </a:r>
            <a:endParaRPr lang="en-US" sz="1500" dirty="0"/>
          </a:p>
          <a:p>
            <a:pPr lvl="1" marL="381000" indent="-190500">
              <a:spcAft>
                <a:spcPts val="500"/>
              </a:spcAft>
              <a:buSzPct val="100000"/>
              <a:buChar char="•"/>
            </a:pPr>
            <a:r>
              <a:rPr lang="en-US" sz="1500" dirty="0">
                <a:solidFill>
                  <a:schemeClr val="tx1"/>
                </a:solidFill>
              </a:rPr>
              <a:t>₹500 must be deducted from Account A</a:t>
            </a:r>
            <a:endParaRPr lang="en-US" sz="1500" dirty="0"/>
          </a:p>
          <a:p>
            <a:pPr lvl="1" marL="381000" indent="-190500">
              <a:spcAft>
                <a:spcPts val="500"/>
              </a:spcAft>
              <a:buSzPct val="100000"/>
              <a:buChar char="•"/>
            </a:pPr>
            <a:r>
              <a:rPr lang="en-US" sz="1500" dirty="0">
                <a:solidFill>
                  <a:schemeClr val="tx1"/>
                </a:solidFill>
              </a:rPr>
              <a:t>₹500 must be added to Account B</a:t>
            </a:r>
            <a:endParaRPr lang="en-US" sz="1500" dirty="0"/>
          </a:p>
          <a:p>
            <a:pPr marL="190500" indent="-190500">
              <a:spcAft>
                <a:spcPts val="500"/>
              </a:spcAft>
              <a:buSzPct val="100000"/>
              <a:buChar char="•"/>
            </a:pPr>
            <a:r>
              <a:rPr lang="en-US" sz="1500" dirty="0">
                <a:solidFill>
                  <a:schemeClr val="tx1"/>
                </a:solidFill>
              </a:rPr>
              <a:t>If only the first step succeeds, the database is left in an incorrect state</a:t>
            </a:r>
            <a:endParaRPr lang="en-US" sz="1500" dirty="0"/>
          </a:p>
          <a:p>
            <a:pPr marL="190500" indent="-190500">
              <a:spcAft>
                <a:spcPts val="500"/>
              </a:spcAft>
              <a:buSzPct val="100000"/>
              <a:buChar char="•"/>
            </a:pPr>
            <a:r>
              <a:rPr lang="en-US" sz="1500" dirty="0">
                <a:solidFill>
                  <a:schemeClr val="tx1"/>
                </a:solidFill>
              </a:rPr>
              <a:t>Transactions help prevent this when used with a suitable engine such as InnoDB</a:t>
            </a:r>
            <a:endParaRPr lang="en-US" sz="1500" dirty="0"/>
          </a:p>
        </p:txBody>
      </p:sp>
      <p:sp>
        <p:nvSpPr>
          <p:cNvPr id="4" name="Text 2"/>
          <p:cNvSpPr txBox="1"/>
          <p:nvPr/>
        </p:nvSpPr>
        <p:spPr>
          <a:xfrm>
            <a:off x="4937760" y="1143000"/>
            <a:ext cx="3749040" cy="2331720"/>
          </a:xfrm>
          <a:prstGeom prst="rect">
            <a:avLst/>
          </a:prstGeom>
          <a:solidFill>
            <a:schemeClr val="bg2"/>
          </a:solidFill>
          <a:ln/>
        </p:spPr>
        <p:txBody>
          <a:bodyPr wrap="square" lIns="101600" tIns="101600" rIns="101600" bIns="10160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START TRANSACTION;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UPDATE Accounts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SET Balance = Balance - 500</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WHERE AccountID = 1;</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UPDATE Accounts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SET Balance = Balance + 500</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WHERE AccountID = 2;</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COMMIT;</a:t>
            </a:r>
            <a:endParaRPr lang="en-US" sz="1200" dirty="0"/>
          </a:p>
        </p:txBody>
      </p:sp>
      <p:sp>
        <p:nvSpPr>
          <p:cNvPr id="5" name="Text 3"/>
          <p:cNvSpPr txBox="1"/>
          <p:nvPr/>
        </p:nvSpPr>
        <p:spPr>
          <a:xfrm>
            <a:off x="4937760" y="3566160"/>
            <a:ext cx="3749040" cy="1188720"/>
          </a:xfrm>
          <a:prstGeom prst="rect">
            <a:avLst/>
          </a:prstGeom>
          <a:noFill/>
          <a:ln/>
        </p:spPr>
        <p:txBody>
          <a:bodyPr wrap="square" lIns="50800" tIns="50800" rIns="50800" bIns="50800" rtlCol="0" anchor="t"/>
          <a:lstStyle/>
          <a:p>
            <a:pPr marL="190500" indent="-190500">
              <a:spcAft>
                <a:spcPts val="200"/>
              </a:spcAft>
              <a:buSzPct val="100000"/>
              <a:buChar char="•"/>
            </a:pPr>
            <a:r>
              <a:rPr lang="en-US" sz="1200" dirty="0">
                <a:solidFill>
                  <a:schemeClr val="tx1"/>
                </a:solidFill>
              </a:rPr>
              <a:t>START TRANSACTION begins it; COMMIT makes changes permanent</a:t>
            </a:r>
            <a:endParaRPr lang="en-US" sz="1200" dirty="0"/>
          </a:p>
          <a:p>
            <a:pPr marL="190500" indent="-190500">
              <a:spcAft>
                <a:spcPts val="200"/>
              </a:spcAft>
              <a:buSzPct val="100000"/>
              <a:buChar char="•"/>
            </a:pPr>
            <a:r>
              <a:rPr lang="en-US" sz="1200" dirty="0">
                <a:solidFill>
                  <a:schemeClr val="tx1"/>
                </a:solidFill>
              </a:rPr>
              <a:t>ROLLBACK; cancels uncommitted changes</a:t>
            </a:r>
            <a:endParaRPr lang="en-US" sz="1200" dirty="0"/>
          </a:p>
          <a:p>
            <a:pPr marL="190500" indent="-190500">
              <a:spcAft>
                <a:spcPts val="200"/>
              </a:spcAft>
              <a:buSzPct val="100000"/>
              <a:buChar char="•"/>
            </a:pPr>
            <a:r>
              <a:rPr lang="en-US" sz="1200" dirty="0">
                <a:solidFill>
                  <a:schemeClr val="tx1"/>
                </a:solidFill>
              </a:rPr>
              <a:t>Simplified: real systems also check accounts, funds, permissions and concurrent updates</a:t>
            </a:r>
            <a:endParaRPr lang="en-US" sz="12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ACID Properties</a:t>
            </a:r>
            <a:endParaRPr lang="en-US" sz="3000" dirty="0"/>
          </a:p>
        </p:txBody>
      </p:sp>
      <p:sp>
        <p:nvSpPr>
          <p:cNvPr id="3" name="Text 1"/>
          <p:cNvSpPr/>
          <p:nvPr/>
        </p:nvSpPr>
        <p:spPr>
          <a:xfrm>
            <a:off x="457200" y="1097280"/>
            <a:ext cx="3108960" cy="1737360"/>
          </a:xfrm>
          <a:prstGeom prst="rect">
            <a:avLst/>
          </a:prstGeom>
          <a:solidFill>
            <a:schemeClr val="bg2"/>
          </a:solidFill>
          <a:ln/>
        </p:spPr>
        <p:txBody>
          <a:bodyPr wrap="square" lIns="114300" tIns="114300" rIns="114300" bIns="114300" rtlCol="0" anchor="t"/>
          <a:lstStyle/>
          <a:p>
            <a:pPr indent="0" marL="0">
              <a:spcAft>
                <a:spcPts val="600"/>
              </a:spcAft>
              <a:buNone/>
            </a:pPr>
            <a:r>
              <a:rPr lang="en-US" sz="1500" b="1" dirty="0">
                <a:solidFill>
                  <a:schemeClr val="tx2"/>
                </a:solidFill>
              </a:rPr>
              <a:t>A: Atomicity</a:t>
            </a:r>
            <a:endParaRPr lang="en-US" sz="1500" dirty="0"/>
          </a:p>
          <a:p>
            <a:pPr marL="190500" indent="-190500">
              <a:spcAft>
                <a:spcPts val="300"/>
              </a:spcAft>
              <a:buSzPct val="100000"/>
              <a:buChar char="•"/>
            </a:pPr>
            <a:r>
              <a:rPr lang="en-US" sz="1200" dirty="0">
                <a:solidFill>
                  <a:schemeClr val="tx1"/>
                </a:solidFill>
              </a:rPr>
              <a:t>Either all operations in the transaction succeed, or none are committed</a:t>
            </a:r>
            <a:endParaRPr lang="en-US" sz="1500" dirty="0"/>
          </a:p>
          <a:p>
            <a:pPr marL="190500" indent="-190500">
              <a:spcAft>
                <a:spcPts val="300"/>
              </a:spcAft>
              <a:buSzPct val="100000"/>
              <a:buChar char="•"/>
            </a:pPr>
            <a:r>
              <a:rPr lang="en-US" sz="1200" dirty="0">
                <a:solidFill>
                  <a:schemeClr val="tx1"/>
                </a:solidFill>
              </a:rPr>
              <a:t>Example: debit and credit of a bank transfer succeed together</a:t>
            </a:r>
            <a:endParaRPr lang="en-US" sz="1500" dirty="0"/>
          </a:p>
        </p:txBody>
      </p:sp>
      <p:sp>
        <p:nvSpPr>
          <p:cNvPr id="4" name="Text 2"/>
          <p:cNvSpPr/>
          <p:nvPr/>
        </p:nvSpPr>
        <p:spPr>
          <a:xfrm>
            <a:off x="3703320" y="1097280"/>
            <a:ext cx="3108960" cy="1737360"/>
          </a:xfrm>
          <a:prstGeom prst="rect">
            <a:avLst/>
          </a:prstGeom>
          <a:solidFill>
            <a:schemeClr val="bg2"/>
          </a:solidFill>
          <a:ln/>
        </p:spPr>
        <p:txBody>
          <a:bodyPr wrap="square" lIns="114300" tIns="114300" rIns="114300" bIns="114300" rtlCol="0" anchor="t"/>
          <a:lstStyle/>
          <a:p>
            <a:pPr indent="0" marL="0">
              <a:spcAft>
                <a:spcPts val="600"/>
              </a:spcAft>
              <a:buNone/>
            </a:pPr>
            <a:r>
              <a:rPr lang="en-US" sz="1500" b="1" dirty="0">
                <a:solidFill>
                  <a:schemeClr val="tx2"/>
                </a:solidFill>
              </a:rPr>
              <a:t>C: Consistency</a:t>
            </a:r>
            <a:endParaRPr lang="en-US" sz="1500" dirty="0"/>
          </a:p>
          <a:p>
            <a:pPr marL="190500" indent="-190500">
              <a:spcAft>
                <a:spcPts val="300"/>
              </a:spcAft>
              <a:buSzPct val="100000"/>
              <a:buChar char="•"/>
            </a:pPr>
            <a:r>
              <a:rPr lang="en-US" sz="1200" dirty="0">
                <a:solidFill>
                  <a:schemeClr val="tx1"/>
                </a:solidFill>
              </a:rPr>
              <a:t>A transaction must preserve database rules and constraints</a:t>
            </a:r>
            <a:endParaRPr lang="en-US" sz="1500" dirty="0"/>
          </a:p>
          <a:p>
            <a:pPr marL="190500" indent="-190500">
              <a:spcAft>
                <a:spcPts val="300"/>
              </a:spcAft>
              <a:buSzPct val="100000"/>
              <a:buChar char="•"/>
            </a:pPr>
            <a:r>
              <a:rPr lang="en-US" sz="1200" dirty="0">
                <a:solidFill>
                  <a:schemeClr val="tx1"/>
                </a:solidFill>
              </a:rPr>
              <a:t>Example: a foreign key should not point to a student who does not exist</a:t>
            </a:r>
            <a:endParaRPr lang="en-US" sz="1500" dirty="0"/>
          </a:p>
        </p:txBody>
      </p:sp>
      <p:sp>
        <p:nvSpPr>
          <p:cNvPr id="5" name="Text 3"/>
          <p:cNvSpPr/>
          <p:nvPr/>
        </p:nvSpPr>
        <p:spPr>
          <a:xfrm>
            <a:off x="457200" y="2971800"/>
            <a:ext cx="3108960" cy="1783080"/>
          </a:xfrm>
          <a:prstGeom prst="rect">
            <a:avLst/>
          </a:prstGeom>
          <a:solidFill>
            <a:schemeClr val="bg2"/>
          </a:solidFill>
          <a:ln/>
        </p:spPr>
        <p:txBody>
          <a:bodyPr wrap="square" lIns="114300" tIns="114300" rIns="114300" bIns="114300" rtlCol="0" anchor="t"/>
          <a:lstStyle/>
          <a:p>
            <a:pPr indent="0" marL="0">
              <a:spcAft>
                <a:spcPts val="600"/>
              </a:spcAft>
              <a:buNone/>
            </a:pPr>
            <a:r>
              <a:rPr lang="en-US" sz="1500" b="1" dirty="0">
                <a:solidFill>
                  <a:schemeClr val="tx2"/>
                </a:solidFill>
              </a:rPr>
              <a:t>I: Isolation</a:t>
            </a:r>
            <a:endParaRPr lang="en-US" sz="1500" dirty="0"/>
          </a:p>
          <a:p>
            <a:pPr marL="190500" indent="-190500">
              <a:spcAft>
                <a:spcPts val="300"/>
              </a:spcAft>
              <a:buSzPct val="100000"/>
              <a:buChar char="•"/>
            </a:pPr>
            <a:r>
              <a:rPr lang="en-US" sz="1200" dirty="0">
                <a:solidFill>
                  <a:schemeClr val="tx1"/>
                </a:solidFill>
              </a:rPr>
              <a:t>Concurrent transactions are controlled so they do not interfere in ways that violate isolation rules</a:t>
            </a:r>
            <a:endParaRPr lang="en-US" sz="1500" dirty="0"/>
          </a:p>
          <a:p>
            <a:pPr marL="190500" indent="-190500">
              <a:spcAft>
                <a:spcPts val="300"/>
              </a:spcAft>
              <a:buSzPct val="100000"/>
              <a:buChar char="•"/>
            </a:pPr>
            <a:r>
              <a:rPr lang="en-US" sz="1200" dirty="0">
                <a:solidFill>
                  <a:schemeClr val="tx1"/>
                </a:solidFill>
              </a:rPr>
              <a:t>Example: two people booking seats should not obtain the same seat</a:t>
            </a:r>
            <a:endParaRPr lang="en-US" sz="1500" dirty="0"/>
          </a:p>
        </p:txBody>
      </p:sp>
      <p:sp>
        <p:nvSpPr>
          <p:cNvPr id="6" name="Text 4"/>
          <p:cNvSpPr/>
          <p:nvPr/>
        </p:nvSpPr>
        <p:spPr>
          <a:xfrm>
            <a:off x="3703320" y="2971800"/>
            <a:ext cx="3108960" cy="1783080"/>
          </a:xfrm>
          <a:prstGeom prst="rect">
            <a:avLst/>
          </a:prstGeom>
          <a:solidFill>
            <a:schemeClr val="bg2"/>
          </a:solidFill>
          <a:ln/>
        </p:spPr>
        <p:txBody>
          <a:bodyPr wrap="square" lIns="114300" tIns="114300" rIns="114300" bIns="114300" rtlCol="0" anchor="t"/>
          <a:lstStyle/>
          <a:p>
            <a:pPr indent="0" marL="0">
              <a:spcAft>
                <a:spcPts val="600"/>
              </a:spcAft>
              <a:buNone/>
            </a:pPr>
            <a:r>
              <a:rPr lang="en-US" sz="1500" b="1" dirty="0">
                <a:solidFill>
                  <a:schemeClr val="tx2"/>
                </a:solidFill>
              </a:rPr>
              <a:t>D: Durability</a:t>
            </a:r>
            <a:endParaRPr lang="en-US" sz="1500" dirty="0"/>
          </a:p>
          <a:p>
            <a:pPr marL="190500" indent="-190500">
              <a:spcAft>
                <a:spcPts val="300"/>
              </a:spcAft>
              <a:buSzPct val="100000"/>
              <a:buChar char="•"/>
            </a:pPr>
            <a:r>
              <a:rPr lang="en-US" sz="1200" dirty="0">
                <a:solidFill>
                  <a:schemeClr val="tx1"/>
                </a:solidFill>
              </a:rPr>
              <a:t>Once committed, changes are designed to survive a crash or power failure (subject to configuration and hardware)</a:t>
            </a:r>
            <a:endParaRPr lang="en-US" sz="1500" dirty="0"/>
          </a:p>
          <a:p>
            <a:pPr marL="190500" indent="-190500">
              <a:spcAft>
                <a:spcPts val="300"/>
              </a:spcAft>
              <a:buSzPct val="100000"/>
              <a:buChar char="•"/>
            </a:pPr>
            <a:r>
              <a:rPr lang="en-US" sz="1200" dirty="0">
                <a:solidFill>
                  <a:schemeClr val="tx1"/>
                </a:solidFill>
              </a:rPr>
              <a:t>Example: a recorded payment should not vanish after a restart</a:t>
            </a:r>
            <a:endParaRPr lang="en-US" sz="1500" dirty="0"/>
          </a:p>
        </p:txBody>
      </p:sp>
      <p:pic>
        <p:nvPicPr>
          <p:cNvPr id="7" name="Image 0" descr="ACID properties illustration">    </p:cNvPr>
          <p:cNvPicPr>
            <a:picLocks noChangeAspect="1"/>
          </p:cNvPicPr>
          <p:nvPr/>
        </p:nvPicPr>
        <p:blipFill>
          <a:blip r:embed="rId1"/>
          <a:stretch>
            <a:fillRect/>
          </a:stretch>
        </p:blipFill>
        <p:spPr>
          <a:xfrm>
            <a:off x="6995160" y="1830180"/>
            <a:ext cx="1737360" cy="2191800"/>
          </a:xfrm>
          <a:prstGeom prst="rect">
            <a:avLst/>
          </a:prstGeom>
        </p:spPr>
      </p:pic>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Replication and Replication Modes</a:t>
            </a:r>
            <a:endParaRPr lang="en-US" sz="3000" dirty="0"/>
          </a:p>
        </p:txBody>
      </p:sp>
      <p:sp>
        <p:nvSpPr>
          <p:cNvPr id="3" name="Text 1"/>
          <p:cNvSpPr txBox="1"/>
          <p:nvPr/>
        </p:nvSpPr>
        <p:spPr>
          <a:xfrm>
            <a:off x="457200" y="1051560"/>
            <a:ext cx="3840480" cy="1737360"/>
          </a:xfrm>
          <a:prstGeom prst="rect">
            <a:avLst/>
          </a:prstGeom>
          <a:noFill/>
          <a:ln/>
        </p:spPr>
        <p:txBody>
          <a:bodyPr wrap="square" lIns="50800" tIns="50800" rIns="50800" bIns="50800" rtlCol="0" anchor="t"/>
          <a:lstStyle/>
          <a:p>
            <a:pPr marL="190500" indent="-190500">
              <a:spcAft>
                <a:spcPts val="500"/>
              </a:spcAft>
              <a:buSzPct val="100000"/>
              <a:buChar char="•"/>
            </a:pPr>
            <a:r>
              <a:rPr lang="en-US" sz="1400" dirty="0">
                <a:solidFill>
                  <a:schemeClr val="tx1"/>
                </a:solidFill>
              </a:rPr>
              <a:t>Replication means copying database changes from one server to another</a:t>
            </a:r>
            <a:endParaRPr lang="en-US" sz="1400" dirty="0"/>
          </a:p>
          <a:p>
            <a:pPr marL="190500" indent="-190500">
              <a:spcAft>
                <a:spcPts val="500"/>
              </a:spcAft>
              <a:buSzPct val="100000"/>
              <a:buChar char="•"/>
            </a:pPr>
            <a:r>
              <a:rPr lang="en-US" sz="1400" dirty="0">
                <a:solidFill>
                  <a:schemeClr val="tx1"/>
                </a:solidFill>
              </a:rPr>
              <a:t>Example: a ticket-booking website uses a primary server for changes and replicas to handle some read requests</a:t>
            </a:r>
            <a:endParaRPr lang="en-US" sz="1400" dirty="0"/>
          </a:p>
        </p:txBody>
      </p:sp>
      <p:sp>
        <p:nvSpPr>
          <p:cNvPr id="4" name="Text 2"/>
          <p:cNvSpPr/>
          <p:nvPr/>
        </p:nvSpPr>
        <p:spPr>
          <a:xfrm>
            <a:off x="4480560" y="1280160"/>
            <a:ext cx="1554480" cy="1097280"/>
          </a:xfrm>
          <a:prstGeom prst="rect">
            <a:avLst/>
          </a:prstGeom>
          <a:solidFill>
            <a:schemeClr val="bg2"/>
          </a:solidFill>
          <a:ln/>
        </p:spPr>
        <p:txBody>
          <a:bodyPr wrap="square" lIns="76200" tIns="76200" rIns="76200" bIns="76200" rtlCol="0" anchor="ctr"/>
          <a:lstStyle/>
          <a:p>
            <a:pPr indent="0" marL="0">
              <a:buNone/>
            </a:pPr>
            <a:r>
              <a:rPr lang="en-US" sz="1300" b="1" dirty="0">
                <a:solidFill>
                  <a:schemeClr val="tx2"/>
                </a:solidFill>
              </a:rPr>
              <a:t>Primary server</a:t>
            </a:r>
            <a:endParaRPr lang="en-US" sz="1300" dirty="0"/>
          </a:p>
          <a:p>
            <a:pPr indent="0" marL="0">
              <a:buNone/>
            </a:pPr>
            <a:r>
              <a:rPr lang="en-US" sz="1100" dirty="0">
                <a:solidFill>
                  <a:srgbClr val="000000"/>
                </a:solidFill>
              </a:rPr>
              <a:t>Accepts the main database updates</a:t>
            </a:r>
            <a:endParaRPr lang="en-US" sz="1300" dirty="0"/>
          </a:p>
        </p:txBody>
      </p:sp>
      <p:sp>
        <p:nvSpPr>
          <p:cNvPr id="5" name="Text 3"/>
          <p:cNvSpPr/>
          <p:nvPr/>
        </p:nvSpPr>
        <p:spPr>
          <a:xfrm>
            <a:off x="6949440" y="1051560"/>
            <a:ext cx="1737360" cy="777240"/>
          </a:xfrm>
          <a:prstGeom prst="rect">
            <a:avLst/>
          </a:prstGeom>
          <a:solidFill>
            <a:schemeClr val="bg2"/>
          </a:solidFill>
          <a:ln/>
        </p:spPr>
        <p:txBody>
          <a:bodyPr wrap="square" lIns="76200" tIns="76200" rIns="76200" bIns="76200" rtlCol="0" anchor="ctr"/>
          <a:lstStyle/>
          <a:p>
            <a:pPr indent="0" marL="0">
              <a:buNone/>
            </a:pPr>
            <a:r>
              <a:rPr lang="en-US" sz="1300" b="1" dirty="0">
                <a:solidFill>
                  <a:schemeClr val="tx2"/>
                </a:solidFill>
              </a:rPr>
              <a:t>Replica 1</a:t>
            </a:r>
            <a:endParaRPr lang="en-US" sz="1300" dirty="0"/>
          </a:p>
          <a:p>
            <a:pPr indent="0" marL="0">
              <a:buNone/>
            </a:pPr>
            <a:r>
              <a:rPr lang="en-US" sz="1100" dirty="0">
                <a:solidFill>
                  <a:srgbClr val="000000"/>
                </a:solidFill>
              </a:rPr>
              <a:t>Can serve suitable read requests</a:t>
            </a:r>
            <a:endParaRPr lang="en-US" sz="1300" dirty="0"/>
          </a:p>
        </p:txBody>
      </p:sp>
      <p:sp>
        <p:nvSpPr>
          <p:cNvPr id="6" name="Text 4"/>
          <p:cNvSpPr/>
          <p:nvPr/>
        </p:nvSpPr>
        <p:spPr>
          <a:xfrm>
            <a:off x="6949440" y="1874520"/>
            <a:ext cx="1737360" cy="777240"/>
          </a:xfrm>
          <a:prstGeom prst="rect">
            <a:avLst/>
          </a:prstGeom>
          <a:solidFill>
            <a:schemeClr val="bg2"/>
          </a:solidFill>
          <a:ln/>
        </p:spPr>
        <p:txBody>
          <a:bodyPr wrap="square" lIns="76200" tIns="76200" rIns="76200" bIns="76200" rtlCol="0" anchor="ctr"/>
          <a:lstStyle/>
          <a:p>
            <a:pPr indent="0" marL="0">
              <a:buNone/>
            </a:pPr>
            <a:r>
              <a:rPr lang="en-US" sz="1300" b="1" dirty="0">
                <a:solidFill>
                  <a:schemeClr val="tx2"/>
                </a:solidFill>
              </a:rPr>
              <a:t>Replica 2</a:t>
            </a:r>
            <a:endParaRPr lang="en-US" sz="1300" dirty="0"/>
          </a:p>
          <a:p>
            <a:pPr indent="0" marL="0">
              <a:buNone/>
            </a:pPr>
            <a:r>
              <a:rPr lang="en-US" sz="1100" dirty="0">
                <a:solidFill>
                  <a:srgbClr val="000000"/>
                </a:solidFill>
              </a:rPr>
              <a:t>Can support recovery and read scaling</a:t>
            </a:r>
            <a:endParaRPr lang="en-US" sz="1300" dirty="0"/>
          </a:p>
        </p:txBody>
      </p:sp>
      <p:sp>
        <p:nvSpPr>
          <p:cNvPr id="7" name="Shape 5"/>
          <p:cNvSpPr/>
          <p:nvPr/>
        </p:nvSpPr>
        <p:spPr>
          <a:xfrm flipV="1">
            <a:off x="6035040" y="1440180"/>
            <a:ext cx="914400" cy="388620"/>
          </a:xfrm>
          <a:prstGeom prst="line">
            <a:avLst/>
          </a:prstGeom>
          <a:noFill/>
          <a:ln w="25400">
            <a:solidFill>
              <a:srgbClr val="003545"/>
            </a:solidFill>
            <a:prstDash val="solid"/>
            <a:tailEnd type="triangle"/>
          </a:ln>
        </p:spPr>
      </p:sp>
      <p:sp>
        <p:nvSpPr>
          <p:cNvPr id="8" name="Shape 6"/>
          <p:cNvSpPr/>
          <p:nvPr/>
        </p:nvSpPr>
        <p:spPr>
          <a:xfrm>
            <a:off x="6035040" y="1828800"/>
            <a:ext cx="914400" cy="434340"/>
          </a:xfrm>
          <a:prstGeom prst="line">
            <a:avLst/>
          </a:prstGeom>
          <a:noFill/>
          <a:ln w="25400">
            <a:solidFill>
              <a:srgbClr val="003545"/>
            </a:solidFill>
            <a:prstDash val="solid"/>
            <a:tailEnd type="triangle"/>
          </a:ln>
        </p:spPr>
      </p:sp>
      <p:sp>
        <p:nvSpPr>
          <p:cNvPr id="9" name="Text 7"/>
          <p:cNvSpPr/>
          <p:nvPr/>
        </p:nvSpPr>
        <p:spPr>
          <a:xfrm>
            <a:off x="457200" y="2834640"/>
            <a:ext cx="2651760" cy="164592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Asynchronous</a:t>
            </a:r>
            <a:endParaRPr lang="en-US" sz="1400" dirty="0"/>
          </a:p>
          <a:p>
            <a:pPr marL="190500" indent="-190500">
              <a:spcAft>
                <a:spcPts val="200"/>
              </a:spcAft>
              <a:buSzPct val="100000"/>
              <a:buChar char="•"/>
            </a:pPr>
            <a:r>
              <a:rPr lang="en-US" sz="1100" dirty="0">
                <a:solidFill>
                  <a:schemeClr val="tx1"/>
                </a:solidFill>
              </a:rPr>
              <a:t>Primary does not wait for a replica to confirm every transaction</a:t>
            </a:r>
            <a:endParaRPr lang="en-US" sz="1400" dirty="0"/>
          </a:p>
          <a:p>
            <a:pPr marL="190500" indent="-190500">
              <a:spcAft>
                <a:spcPts val="200"/>
              </a:spcAft>
              <a:buSzPct val="100000"/>
              <a:buChar char="•"/>
            </a:pPr>
            <a:r>
              <a:rPr lang="en-US" sz="1100" dirty="0">
                <a:solidFill>
                  <a:schemeClr val="tx1"/>
                </a:solidFill>
              </a:rPr>
              <a:t>Can offer low latency</a:t>
            </a:r>
            <a:endParaRPr lang="en-US" sz="1400" dirty="0"/>
          </a:p>
          <a:p>
            <a:pPr marL="190500" indent="-190500">
              <a:spcAft>
                <a:spcPts val="200"/>
              </a:spcAft>
              <a:buSzPct val="100000"/>
              <a:buChar char="•"/>
            </a:pPr>
            <a:r>
              <a:rPr lang="en-US" sz="1100" dirty="0">
                <a:solidFill>
                  <a:schemeClr val="tx1"/>
                </a:solidFill>
              </a:rPr>
              <a:t>Replicas may temporarily lag behind</a:t>
            </a:r>
            <a:endParaRPr lang="en-US" sz="1400" dirty="0"/>
          </a:p>
        </p:txBody>
      </p:sp>
      <p:sp>
        <p:nvSpPr>
          <p:cNvPr id="10" name="Text 8"/>
          <p:cNvSpPr/>
          <p:nvPr/>
        </p:nvSpPr>
        <p:spPr>
          <a:xfrm>
            <a:off x="3246120" y="2834640"/>
            <a:ext cx="2651760" cy="164592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Semi-synchronous</a:t>
            </a:r>
            <a:endParaRPr lang="en-US" sz="1400" dirty="0"/>
          </a:p>
          <a:p>
            <a:pPr marL="190500" indent="-190500">
              <a:spcAft>
                <a:spcPts val="200"/>
              </a:spcAft>
              <a:buSzPct val="100000"/>
              <a:buChar char="•"/>
            </a:pPr>
            <a:r>
              <a:rPr lang="en-US" sz="1100" dirty="0">
                <a:solidFill>
                  <a:schemeClr val="tx1"/>
                </a:solidFill>
              </a:rPr>
              <a:t>Primary waits for an acknowledgement from at least one replica</a:t>
            </a:r>
            <a:endParaRPr lang="en-US" sz="1400" dirty="0"/>
          </a:p>
          <a:p>
            <a:pPr marL="190500" indent="-190500">
              <a:spcAft>
                <a:spcPts val="200"/>
              </a:spcAft>
              <a:buSzPct val="100000"/>
              <a:buChar char="•"/>
            </a:pPr>
            <a:r>
              <a:rPr lang="en-US" sz="1100" dirty="0">
                <a:solidFill>
                  <a:schemeClr val="tx1"/>
                </a:solidFill>
              </a:rPr>
              <a:t>Can reduce the risk of losing acknowledged changes if the primary fails</a:t>
            </a:r>
            <a:endParaRPr lang="en-US" sz="1400" dirty="0"/>
          </a:p>
          <a:p>
            <a:pPr marL="190500" indent="-190500">
              <a:spcAft>
                <a:spcPts val="200"/>
              </a:spcAft>
              <a:buSzPct val="100000"/>
              <a:buChar char="•"/>
            </a:pPr>
            <a:r>
              <a:rPr lang="en-US" sz="1100" dirty="0">
                <a:solidFill>
                  <a:schemeClr val="tx1"/>
                </a:solidFill>
              </a:rPr>
              <a:t>Adds waiting time; does not guarantee every replica applied it</a:t>
            </a:r>
            <a:endParaRPr lang="en-US" sz="1400" dirty="0"/>
          </a:p>
        </p:txBody>
      </p:sp>
      <p:sp>
        <p:nvSpPr>
          <p:cNvPr id="11" name="Text 9"/>
          <p:cNvSpPr/>
          <p:nvPr/>
        </p:nvSpPr>
        <p:spPr>
          <a:xfrm>
            <a:off x="6035040" y="2834640"/>
            <a:ext cx="2651760" cy="164592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Galera clustering</a:t>
            </a:r>
            <a:endParaRPr lang="en-US" sz="1400" dirty="0"/>
          </a:p>
          <a:p>
            <a:pPr marL="190500" indent="-190500">
              <a:spcAft>
                <a:spcPts val="200"/>
              </a:spcAft>
              <a:buSzPct val="100000"/>
              <a:buChar char="•"/>
            </a:pPr>
            <a:r>
              <a:rPr lang="en-US" sz="1100" dirty="0">
                <a:solidFill>
                  <a:schemeClr val="tx1"/>
                </a:solidFill>
              </a:rPr>
              <a:t>Multi-primary cluster with synchronous-style replication and certification</a:t>
            </a:r>
            <a:endParaRPr lang="en-US" sz="1400" dirty="0"/>
          </a:p>
          <a:p>
            <a:pPr marL="190500" indent="-190500">
              <a:spcAft>
                <a:spcPts val="200"/>
              </a:spcAft>
              <a:buSzPct val="100000"/>
              <a:buChar char="•"/>
            </a:pPr>
            <a:r>
              <a:rPr lang="en-US" sz="1100" dirty="0">
                <a:solidFill>
                  <a:schemeClr val="tx1"/>
                </a:solidFill>
              </a:rPr>
              <a:t>Multiple nodes may accept writes, subject to cluster rules</a:t>
            </a:r>
            <a:endParaRPr lang="en-US" sz="1400" dirty="0"/>
          </a:p>
          <a:p>
            <a:pPr marL="190500" indent="-190500">
              <a:spcAft>
                <a:spcPts val="200"/>
              </a:spcAft>
              <a:buSzPct val="100000"/>
              <a:buChar char="•"/>
            </a:pPr>
            <a:r>
              <a:rPr lang="en-US" sz="1100" dirty="0">
                <a:solidFill>
                  <a:schemeClr val="tx1"/>
                </a:solidFill>
              </a:rPr>
              <a:t>Needs careful configuration and operation</a:t>
            </a:r>
            <a:endParaRPr lang="en-US" sz="1400" dirty="0"/>
          </a:p>
        </p:txBody>
      </p:sp>
      <p:sp>
        <p:nvSpPr>
          <p:cNvPr id="12" name="Text 10"/>
          <p:cNvSpPr txBox="1"/>
          <p:nvPr/>
        </p:nvSpPr>
        <p:spPr>
          <a:xfrm>
            <a:off x="457200" y="4507992"/>
            <a:ext cx="7680960" cy="411480"/>
          </a:xfrm>
          <a:prstGeom prst="rect">
            <a:avLst/>
          </a:prstGeom>
          <a:noFill/>
          <a:ln/>
        </p:spPr>
        <p:txBody>
          <a:bodyPr wrap="square" lIns="25400" tIns="25400" rIns="25400" bIns="25400" rtlCol="0" anchor="t"/>
          <a:lstStyle/>
          <a:p>
            <a:pPr indent="0" marL="0">
              <a:buNone/>
            </a:pPr>
            <a:r>
              <a:rPr lang="en-US" sz="1000" dirty="0">
                <a:solidFill>
                  <a:schemeClr val="tx1"/>
                </a:solidFill>
              </a:rPr>
              <a:t>The presentation also mentions group replication. Exact clustering technology depends on the setup; MySQL Group Replication is a distinct technology, while Galera is a common MariaDB clustering option.</a:t>
            </a:r>
            <a:endParaRPr lang="en-US" sz="10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Scalability</a:t>
            </a:r>
            <a:endParaRPr lang="en-US" sz="3000" dirty="0"/>
          </a:p>
        </p:txBody>
      </p:sp>
      <p:sp>
        <p:nvSpPr>
          <p:cNvPr id="3" name="Text 1"/>
          <p:cNvSpPr txBox="1"/>
          <p:nvPr/>
        </p:nvSpPr>
        <p:spPr>
          <a:xfrm>
            <a:off x="457200" y="1143000"/>
            <a:ext cx="4297680" cy="2743200"/>
          </a:xfrm>
          <a:prstGeom prst="rect">
            <a:avLst/>
          </a:prstGeom>
          <a:noFill/>
          <a:ln/>
        </p:spPr>
        <p:txBody>
          <a:bodyPr wrap="square" lIns="50800" tIns="50800" rIns="50800" bIns="50800" rtlCol="0" anchor="t"/>
          <a:lstStyle/>
          <a:p>
            <a:pPr marL="190500" indent="-190500">
              <a:spcAft>
                <a:spcPts val="800"/>
              </a:spcAft>
              <a:buSzPct val="100000"/>
              <a:buChar char="•"/>
            </a:pPr>
            <a:r>
              <a:rPr lang="en-US" sz="1600" b="1" dirty="0">
                <a:solidFill>
                  <a:schemeClr val="tx1"/>
                </a:solidFill>
              </a:rPr>
              <a:t>Scalability: </a:t>
            </a:r>
            <a:pPr indent="0" marL="0">
              <a:spcAft>
                <a:spcPts val="800"/>
              </a:spcAft>
              <a:buNone/>
            </a:pPr>
            <a:r>
              <a:rPr lang="en-US" sz="1600" dirty="0">
                <a:solidFill>
                  <a:schemeClr val="tx1"/>
                </a:solidFill>
              </a:rPr>
              <a:t>the ability of a system to handle increased workloads</a:t>
            </a:r>
            <a:endParaRPr lang="en-US" sz="1600" dirty="0"/>
          </a:p>
          <a:p>
            <a:pPr marL="190500" indent="-190500">
              <a:spcAft>
                <a:spcPts val="800"/>
              </a:spcAft>
              <a:buSzPct val="100000"/>
              <a:buChar char="•"/>
            </a:pPr>
            <a:r>
              <a:rPr lang="en-US" sz="1600" b="1" dirty="0">
                <a:solidFill>
                  <a:schemeClr val="tx1"/>
                </a:solidFill>
              </a:rPr>
              <a:t>Vertical scaling: </a:t>
            </a:r>
            <a:pPr indent="0" marL="0">
              <a:spcAft>
                <a:spcPts val="800"/>
              </a:spcAft>
              <a:buNone/>
            </a:pPr>
            <a:r>
              <a:rPr lang="en-US" sz="1600" dirty="0">
                <a:solidFill>
                  <a:schemeClr val="tx1"/>
                </a:solidFill>
              </a:rPr>
              <a:t>give one server more CPU, RAM, or faster storage</a:t>
            </a:r>
            <a:endParaRPr lang="en-US" sz="1600" dirty="0"/>
          </a:p>
          <a:p>
            <a:pPr marL="190500" indent="-190500">
              <a:spcAft>
                <a:spcPts val="800"/>
              </a:spcAft>
              <a:buSzPct val="100000"/>
              <a:buChar char="•"/>
            </a:pPr>
            <a:r>
              <a:rPr lang="en-US" sz="1600" b="1" dirty="0">
                <a:solidFill>
                  <a:schemeClr val="tx1"/>
                </a:solidFill>
              </a:rPr>
              <a:t>Horizontal scaling: </a:t>
            </a:r>
            <a:pPr indent="0" marL="0">
              <a:spcAft>
                <a:spcPts val="800"/>
              </a:spcAft>
              <a:buNone/>
            </a:pPr>
            <a:r>
              <a:rPr lang="en-US" sz="1600" dirty="0">
                <a:solidFill>
                  <a:schemeClr val="tx1"/>
                </a:solidFill>
              </a:rPr>
              <a:t>add more servers, such as read replicas, or distribute data using sharding</a:t>
            </a:r>
            <a:endParaRPr lang="en-US" sz="1600" dirty="0"/>
          </a:p>
          <a:p>
            <a:pPr marL="190500" indent="-190500">
              <a:spcAft>
                <a:spcPts val="800"/>
              </a:spcAft>
              <a:buSzPct val="100000"/>
              <a:buChar char="•"/>
            </a:pPr>
            <a:r>
              <a:rPr lang="en-US" sz="1600" b="1" dirty="0">
                <a:solidFill>
                  <a:schemeClr val="tx1"/>
                </a:solidFill>
              </a:rPr>
              <a:t>Sharding: </a:t>
            </a:r>
            <a:pPr indent="0" marL="0">
              <a:spcAft>
                <a:spcPts val="800"/>
              </a:spcAft>
              <a:buNone/>
            </a:pPr>
            <a:r>
              <a:rPr lang="en-US" sz="1600" dirty="0">
                <a:solidFill>
                  <a:schemeClr val="tx1"/>
                </a:solidFill>
              </a:rPr>
              <a:t>splitting data across multiple servers instead of storing it all on one</a:t>
            </a:r>
            <a:endParaRPr lang="en-US" sz="1600" dirty="0"/>
          </a:p>
        </p:txBody>
      </p:sp>
      <p:sp>
        <p:nvSpPr>
          <p:cNvPr id="4" name="Text 2"/>
          <p:cNvSpPr/>
          <p:nvPr/>
        </p:nvSpPr>
        <p:spPr>
          <a:xfrm>
            <a:off x="4937760" y="1143000"/>
            <a:ext cx="3749040" cy="2743200"/>
          </a:xfrm>
          <a:prstGeom prst="rect">
            <a:avLst/>
          </a:prstGeom>
          <a:solidFill>
            <a:schemeClr val="bg2"/>
          </a:solidFill>
          <a:ln/>
        </p:spPr>
        <p:txBody>
          <a:bodyPr wrap="square" lIns="114300" tIns="114300" rIns="114300" bIns="114300" rtlCol="0" anchor="t"/>
          <a:lstStyle/>
          <a:p>
            <a:pPr indent="0" marL="0">
              <a:spcAft>
                <a:spcPts val="600"/>
              </a:spcAft>
              <a:buNone/>
            </a:pPr>
            <a:r>
              <a:rPr lang="en-US" sz="1700" b="1" dirty="0">
                <a:solidFill>
                  <a:schemeClr val="tx2"/>
                </a:solidFill>
              </a:rPr>
              <a:t>Example: a growing movie website</a:t>
            </a:r>
            <a:endParaRPr lang="en-US" sz="1700" dirty="0"/>
          </a:p>
          <a:p>
            <a:pPr marL="190500" indent="-190500">
              <a:spcAft>
                <a:spcPts val="500"/>
              </a:spcAft>
              <a:buSzPct val="100000"/>
              <a:buChar char="•"/>
            </a:pPr>
            <a:r>
              <a:rPr lang="en-US" sz="1400" dirty="0">
                <a:solidFill>
                  <a:schemeClr val="tx1"/>
                </a:solidFill>
              </a:rPr>
              <a:t>Vertical: upgrade the main database server</a:t>
            </a:r>
            <a:endParaRPr lang="en-US" sz="1700" dirty="0"/>
          </a:p>
          <a:p>
            <a:pPr marL="190500" indent="-190500">
              <a:spcAft>
                <a:spcPts val="500"/>
              </a:spcAft>
              <a:buSzPct val="100000"/>
              <a:buChar char="•"/>
            </a:pPr>
            <a:r>
              <a:rPr lang="en-US" sz="1400" dirty="0">
                <a:solidFill>
                  <a:schemeClr val="tx1"/>
                </a:solidFill>
              </a:rPr>
              <a:t>Horizontal: add read replicas for movie listings</a:t>
            </a:r>
            <a:endParaRPr lang="en-US" sz="1700" dirty="0"/>
          </a:p>
          <a:p>
            <a:pPr marL="190500" indent="-190500">
              <a:spcAft>
                <a:spcPts val="500"/>
              </a:spcAft>
              <a:buSzPct val="100000"/>
              <a:buChar char="•"/>
            </a:pPr>
            <a:r>
              <a:rPr lang="en-US" sz="1400" dirty="0">
                <a:solidFill>
                  <a:schemeClr val="tx1"/>
                </a:solidFill>
              </a:rPr>
              <a:t>Sharding: distribute groups of data across servers when the architecture requires it</a:t>
            </a:r>
            <a:endParaRPr lang="en-US" sz="1700" dirty="0"/>
          </a:p>
        </p:txBody>
      </p:sp>
      <p:sp>
        <p:nvSpPr>
          <p:cNvPr id="5" name="Text 3"/>
          <p:cNvSpPr txBox="1"/>
          <p:nvPr/>
        </p:nvSpPr>
        <p:spPr>
          <a:xfrm>
            <a:off x="457200" y="4023360"/>
            <a:ext cx="8229600" cy="731520"/>
          </a:xfrm>
          <a:prstGeom prst="rect">
            <a:avLst/>
          </a:prstGeom>
          <a:noFill/>
          <a:ln/>
        </p:spPr>
        <p:txBody>
          <a:bodyPr wrap="square" lIns="50800" tIns="50800" rIns="50800" bIns="50800" rtlCol="0" anchor="ctr"/>
          <a:lstStyle/>
          <a:p>
            <a:pPr indent="0" marL="0">
              <a:buNone/>
            </a:pPr>
            <a:r>
              <a:rPr lang="en-US" sz="1400" dirty="0">
                <a:solidFill>
                  <a:schemeClr val="tx1"/>
                </a:solidFill>
              </a:rPr>
              <a:t>Replication and scaling improve capacity or availability when designed properly, but add operational complexity and do not automatically guarantee zero downtime.</a:t>
            </a:r>
            <a:endParaRPr lang="en-US" sz="14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Core Features: Source, SQL, Transactions, HA</a:t>
            </a:r>
            <a:endParaRPr lang="en-US" sz="3000" dirty="0"/>
          </a:p>
        </p:txBody>
      </p:sp>
      <p:sp>
        <p:nvSpPr>
          <p:cNvPr id="3" name="Text 1"/>
          <p:cNvSpPr/>
          <p:nvPr/>
        </p:nvSpPr>
        <p:spPr>
          <a:xfrm>
            <a:off x="457200" y="1097280"/>
            <a:ext cx="4023360" cy="1783080"/>
          </a:xfrm>
          <a:prstGeom prst="rect">
            <a:avLst/>
          </a:prstGeom>
          <a:solidFill>
            <a:schemeClr val="bg2"/>
          </a:solidFill>
          <a:ln/>
        </p:spPr>
        <p:txBody>
          <a:bodyPr wrap="square" lIns="114300" tIns="114300" rIns="114300" bIns="114300" rtlCol="0" anchor="t"/>
          <a:lstStyle/>
          <a:p>
            <a:pPr indent="0" marL="0">
              <a:spcAft>
                <a:spcPts val="600"/>
              </a:spcAft>
              <a:buNone/>
            </a:pPr>
            <a:r>
              <a:rPr lang="en-US" sz="1500" b="1" dirty="0">
                <a:solidFill>
                  <a:schemeClr val="tx2"/>
                </a:solidFill>
              </a:rPr>
              <a:t>Open source</a:t>
            </a:r>
            <a:endParaRPr lang="en-US" sz="1500" dirty="0"/>
          </a:p>
          <a:p>
            <a:pPr marL="190500" indent="-190500">
              <a:spcAft>
                <a:spcPts val="300"/>
              </a:spcAft>
              <a:buSzPct val="100000"/>
              <a:buChar char="•"/>
            </a:pPr>
            <a:r>
              <a:rPr lang="en-US" sz="1200" dirty="0">
                <a:solidFill>
                  <a:schemeClr val="tx1"/>
                </a:solidFill>
              </a:rPr>
              <a:t>Source code under open-source licences; community-driven foundation</a:t>
            </a:r>
            <a:endParaRPr lang="en-US" sz="1500" dirty="0"/>
          </a:p>
          <a:p>
            <a:pPr marL="190500" indent="-190500">
              <a:spcAft>
                <a:spcPts val="300"/>
              </a:spcAft>
              <a:buSzPct val="100000"/>
              <a:buChar char="•"/>
            </a:pPr>
            <a:r>
              <a:rPr lang="en-US" sz="1200" dirty="0">
                <a:solidFill>
                  <a:schemeClr val="tx1"/>
                </a:solidFill>
              </a:rPr>
              <a:t>Developers can inspect, contribute and use it under the licence terms</a:t>
            </a:r>
            <a:endParaRPr lang="en-US" sz="1500" dirty="0"/>
          </a:p>
          <a:p>
            <a:pPr marL="190500" indent="-190500">
              <a:spcAft>
                <a:spcPts val="300"/>
              </a:spcAft>
              <a:buSzPct val="100000"/>
              <a:buChar char="•"/>
            </a:pPr>
            <a:r>
              <a:rPr lang="en-US" sz="1200" dirty="0">
                <a:solidFill>
                  <a:schemeClr val="tx1"/>
                </a:solidFill>
              </a:rPr>
              <a:t>Benefit: lower licensing costs, less dependence on one vendor</a:t>
            </a:r>
            <a:endParaRPr lang="en-US" sz="1500" dirty="0"/>
          </a:p>
        </p:txBody>
      </p:sp>
      <p:sp>
        <p:nvSpPr>
          <p:cNvPr id="4" name="Text 2"/>
          <p:cNvSpPr/>
          <p:nvPr/>
        </p:nvSpPr>
        <p:spPr>
          <a:xfrm>
            <a:off x="4663440" y="1097280"/>
            <a:ext cx="4023360" cy="1783080"/>
          </a:xfrm>
          <a:prstGeom prst="rect">
            <a:avLst/>
          </a:prstGeom>
          <a:solidFill>
            <a:schemeClr val="bg2"/>
          </a:solidFill>
          <a:ln/>
        </p:spPr>
        <p:txBody>
          <a:bodyPr wrap="square" lIns="114300" tIns="114300" rIns="114300" bIns="114300" rtlCol="0" anchor="t"/>
          <a:lstStyle/>
          <a:p>
            <a:pPr indent="0" marL="0">
              <a:spcAft>
                <a:spcPts val="600"/>
              </a:spcAft>
              <a:buNone/>
            </a:pPr>
            <a:r>
              <a:rPr lang="en-US" sz="1500" b="1" dirty="0">
                <a:solidFill>
                  <a:schemeClr val="tx2"/>
                </a:solidFill>
              </a:rPr>
              <a:t>SQL support</a:t>
            </a:r>
            <a:endParaRPr lang="en-US" sz="1500" dirty="0"/>
          </a:p>
          <a:p>
            <a:pPr marL="190500" indent="-190500">
              <a:spcAft>
                <a:spcPts val="300"/>
              </a:spcAft>
              <a:buSzPct val="100000"/>
              <a:buChar char="•"/>
            </a:pPr>
            <a:r>
              <a:rPr lang="en-US" sz="1200" dirty="0">
                <a:solidFill>
                  <a:schemeClr val="tx1"/>
                </a:solidFill>
              </a:rPr>
              <a:t>SQL to define tables, insert, retrieve, update and manage data</a:t>
            </a:r>
            <a:endParaRPr lang="en-US" sz="1500" dirty="0"/>
          </a:p>
          <a:p>
            <a:pPr marL="190500" indent="-190500">
              <a:spcAft>
                <a:spcPts val="300"/>
              </a:spcAft>
              <a:buSzPct val="100000"/>
              <a:buChar char="•"/>
            </a:pPr>
            <a:r>
              <a:rPr lang="en-US" sz="1200" dirty="0">
                <a:solidFill>
                  <a:schemeClr val="tx1"/>
                </a:solidFill>
              </a:rPr>
              <a:t>Example: create a database and table, insert a student, display the record (see practical slides)</a:t>
            </a:r>
            <a:endParaRPr lang="en-US" sz="1500" dirty="0"/>
          </a:p>
        </p:txBody>
      </p:sp>
      <p:sp>
        <p:nvSpPr>
          <p:cNvPr id="5" name="Text 3"/>
          <p:cNvSpPr/>
          <p:nvPr/>
        </p:nvSpPr>
        <p:spPr>
          <a:xfrm>
            <a:off x="457200" y="2971800"/>
            <a:ext cx="4023360" cy="1783080"/>
          </a:xfrm>
          <a:prstGeom prst="rect">
            <a:avLst/>
          </a:prstGeom>
          <a:solidFill>
            <a:schemeClr val="bg2"/>
          </a:solidFill>
          <a:ln/>
        </p:spPr>
        <p:txBody>
          <a:bodyPr wrap="square" lIns="114300" tIns="114300" rIns="114300" bIns="114300" rtlCol="0" anchor="t"/>
          <a:lstStyle/>
          <a:p>
            <a:pPr indent="0" marL="0">
              <a:spcAft>
                <a:spcPts val="600"/>
              </a:spcAft>
              <a:buNone/>
            </a:pPr>
            <a:r>
              <a:rPr lang="en-US" sz="1500" b="1" dirty="0">
                <a:solidFill>
                  <a:schemeClr val="tx2"/>
                </a:solidFill>
              </a:rPr>
              <a:t>Transactions</a:t>
            </a:r>
            <a:endParaRPr lang="en-US" sz="1500" dirty="0"/>
          </a:p>
          <a:p>
            <a:pPr marL="190500" indent="-190500">
              <a:spcAft>
                <a:spcPts val="300"/>
              </a:spcAft>
              <a:buSzPct val="100000"/>
              <a:buChar char="•"/>
            </a:pPr>
            <a:r>
              <a:rPr lang="en-US" sz="1200" dirty="0">
                <a:solidFill>
                  <a:schemeClr val="tx1"/>
                </a:solidFill>
              </a:rPr>
              <a:t>Supported through engines such as InnoDB</a:t>
            </a:r>
            <a:endParaRPr lang="en-US" sz="1500" dirty="0"/>
          </a:p>
          <a:p>
            <a:pPr marL="190500" indent="-190500">
              <a:spcAft>
                <a:spcPts val="300"/>
              </a:spcAft>
              <a:buSzPct val="100000"/>
              <a:buChar char="•"/>
            </a:pPr>
            <a:r>
              <a:rPr lang="en-US" sz="1200" dirty="0">
                <a:solidFill>
                  <a:schemeClr val="tx1"/>
                </a:solidFill>
              </a:rPr>
              <a:t>Important for payments, ticket booking and student registrations</a:t>
            </a:r>
            <a:endParaRPr lang="en-US" sz="1500" dirty="0"/>
          </a:p>
        </p:txBody>
      </p:sp>
      <p:sp>
        <p:nvSpPr>
          <p:cNvPr id="6" name="Text 4"/>
          <p:cNvSpPr/>
          <p:nvPr/>
        </p:nvSpPr>
        <p:spPr>
          <a:xfrm>
            <a:off x="4663440" y="2971800"/>
            <a:ext cx="4023360" cy="1783080"/>
          </a:xfrm>
          <a:prstGeom prst="rect">
            <a:avLst/>
          </a:prstGeom>
          <a:solidFill>
            <a:schemeClr val="bg2"/>
          </a:solidFill>
          <a:ln/>
        </p:spPr>
        <p:txBody>
          <a:bodyPr wrap="square" lIns="114300" tIns="114300" rIns="114300" bIns="114300" rtlCol="0" anchor="t"/>
          <a:lstStyle/>
          <a:p>
            <a:pPr indent="0" marL="0">
              <a:spcAft>
                <a:spcPts val="600"/>
              </a:spcAft>
              <a:buNone/>
            </a:pPr>
            <a:r>
              <a:rPr lang="en-US" sz="1500" b="1" dirty="0">
                <a:solidFill>
                  <a:schemeClr val="tx2"/>
                </a:solidFill>
              </a:rPr>
              <a:t>Replication and high availability</a:t>
            </a:r>
            <a:endParaRPr lang="en-US" sz="1500" dirty="0"/>
          </a:p>
          <a:p>
            <a:pPr marL="190500" indent="-190500">
              <a:spcAft>
                <a:spcPts val="200"/>
              </a:spcAft>
              <a:buSzPct val="100000"/>
              <a:buChar char="•"/>
            </a:pPr>
            <a:r>
              <a:rPr lang="en-US" sz="1200" dirty="0">
                <a:solidFill>
                  <a:schemeClr val="tx1"/>
                </a:solidFill>
              </a:rPr>
              <a:t>Keeps additional copies of data on other servers</a:t>
            </a:r>
            <a:endParaRPr lang="en-US" sz="1500" dirty="0"/>
          </a:p>
          <a:p>
            <a:pPr marL="190500" indent="-190500">
              <a:spcAft>
                <a:spcPts val="200"/>
              </a:spcAft>
              <a:buSzPct val="100000"/>
              <a:buChar char="•"/>
            </a:pPr>
            <a:r>
              <a:rPr lang="en-US" sz="1200" dirty="0">
                <a:solidFill>
                  <a:schemeClr val="tx1"/>
                </a:solidFill>
              </a:rPr>
              <a:t>With monitoring and failover, helps an app keep operating when a server fails</a:t>
            </a:r>
            <a:endParaRPr lang="en-US" sz="1500" dirty="0"/>
          </a:p>
          <a:p>
            <a:pPr marL="190500" indent="-190500">
              <a:spcAft>
                <a:spcPts val="200"/>
              </a:spcAft>
              <a:buSzPct val="100000"/>
              <a:buChar char="•"/>
            </a:pPr>
            <a:r>
              <a:rPr lang="en-US" sz="1200" dirty="0">
                <a:solidFill>
                  <a:schemeClr val="tx1"/>
                </a:solidFill>
              </a:rPr>
              <a:t>High availability = designing to minimize unavailable time</a:t>
            </a:r>
            <a:endParaRPr lang="en-US" sz="1500" dirty="0"/>
          </a:p>
          <a:p>
            <a:pPr marL="190500" indent="-190500">
              <a:spcAft>
                <a:spcPts val="200"/>
              </a:spcAft>
              <a:buSzPct val="100000"/>
              <a:buChar char="•"/>
            </a:pPr>
            <a:r>
              <a:rPr lang="en-US" sz="1200" dirty="0">
                <a:solidFill>
                  <a:schemeClr val="tx1"/>
                </a:solidFill>
              </a:rPr>
              <a:t>Not a complete backup strategy; keep independent backups</a:t>
            </a:r>
            <a:endParaRPr lang="en-US" sz="15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Core Features: JSON, Procedures, Engines</a:t>
            </a:r>
            <a:endParaRPr lang="en-US" sz="3000" dirty="0"/>
          </a:p>
        </p:txBody>
      </p:sp>
      <p:sp>
        <p:nvSpPr>
          <p:cNvPr id="3" name="Text 1"/>
          <p:cNvSpPr txBox="1"/>
          <p:nvPr/>
        </p:nvSpPr>
        <p:spPr>
          <a:xfrm>
            <a:off x="457200" y="1097280"/>
            <a:ext cx="4297680" cy="274320"/>
          </a:xfrm>
          <a:prstGeom prst="rect">
            <a:avLst/>
          </a:prstGeom>
          <a:noFill/>
          <a:ln/>
        </p:spPr>
        <p:txBody>
          <a:bodyPr wrap="square" lIns="25400" tIns="25400" rIns="25400" bIns="25400" rtlCol="0" anchor="ctr"/>
          <a:lstStyle/>
          <a:p>
            <a:pPr indent="0" marL="0">
              <a:buNone/>
            </a:pPr>
            <a:r>
              <a:rPr lang="en-US" sz="1400" b="1" dirty="0">
                <a:solidFill>
                  <a:schemeClr val="tx2"/>
                </a:solidFill>
              </a:rPr>
              <a:t>JSON support</a:t>
            </a:r>
            <a:endParaRPr lang="en-US" sz="1400" dirty="0"/>
          </a:p>
        </p:txBody>
      </p:sp>
      <p:sp>
        <p:nvSpPr>
          <p:cNvPr id="4" name="Text 2"/>
          <p:cNvSpPr txBox="1"/>
          <p:nvPr/>
        </p:nvSpPr>
        <p:spPr>
          <a:xfrm>
            <a:off x="457200" y="1371600"/>
            <a:ext cx="4297680" cy="2103120"/>
          </a:xfrm>
          <a:prstGeom prst="rect">
            <a:avLst/>
          </a:prstGeom>
          <a:noFill/>
          <a:ln/>
        </p:spPr>
        <p:txBody>
          <a:bodyPr wrap="square" lIns="50800" tIns="50800" rIns="50800" bIns="50800" rtlCol="0" anchor="t"/>
          <a:lstStyle/>
          <a:p>
            <a:pPr marL="190500" indent="-190500">
              <a:spcAft>
                <a:spcPts val="300"/>
              </a:spcAft>
              <a:buSzPct val="100000"/>
              <a:buChar char="•"/>
            </a:pPr>
            <a:r>
              <a:rPr lang="en-US" sz="1600" dirty="0">
                <a:solidFill>
                  <a:schemeClr val="tx1"/>
                </a:solidFill>
              </a:rPr>
              <a:t>JSON is a format for structured information</a:t>
            </a:r>
            <a:endParaRPr lang="en-US" sz="1600" dirty="0"/>
          </a:p>
          <a:p>
            <a:pPr marL="190500" indent="-190500">
              <a:spcAft>
                <a:spcPts val="300"/>
              </a:spcAft>
              <a:buSzPct val="100000"/>
              <a:buChar char="•"/>
            </a:pPr>
            <a:r>
              <a:rPr lang="en-US" sz="1600" dirty="0">
                <a:solidFill>
                  <a:schemeClr val="tx1"/>
                </a:solidFill>
              </a:rPr>
              <a:t>MariaDB provides JSON functions for working with JSON documents</a:t>
            </a:r>
            <a:endParaRPr lang="en-US" sz="1600" dirty="0"/>
          </a:p>
          <a:p>
            <a:pPr marL="190500" indent="-190500">
              <a:spcAft>
                <a:spcPts val="300"/>
              </a:spcAft>
              <a:buSzPct val="100000"/>
              <a:buChar char="•"/>
            </a:pPr>
            <a:r>
              <a:rPr lang="en-US" sz="1600" dirty="0">
                <a:solidFill>
                  <a:schemeClr val="tx1"/>
                </a:solidFill>
              </a:rPr>
              <a:t>The JSON type is text-based, unlike the native binary JSON type in some other systems</a:t>
            </a:r>
            <a:endParaRPr lang="en-US" sz="1600" dirty="0"/>
          </a:p>
          <a:p>
            <a:pPr marL="190500" indent="-190500">
              <a:spcAft>
                <a:spcPts val="300"/>
              </a:spcAft>
              <a:buSzPct val="100000"/>
              <a:buChar char="•"/>
            </a:pPr>
            <a:r>
              <a:rPr lang="en-US" sz="1600" dirty="0">
                <a:solidFill>
                  <a:schemeClr val="tx1"/>
                </a:solidFill>
              </a:rPr>
              <a:t>Useful when records have flexible fields</a:t>
            </a:r>
            <a:endParaRPr lang="en-US" sz="1600" dirty="0"/>
          </a:p>
        </p:txBody>
      </p:sp>
      <p:sp>
        <p:nvSpPr>
          <p:cNvPr id="5" name="Text 3"/>
          <p:cNvSpPr txBox="1"/>
          <p:nvPr/>
        </p:nvSpPr>
        <p:spPr>
          <a:xfrm>
            <a:off x="457200" y="3566160"/>
            <a:ext cx="3108960" cy="1097280"/>
          </a:xfrm>
          <a:prstGeom prst="rect">
            <a:avLst/>
          </a:prstGeom>
          <a:solidFill>
            <a:schemeClr val="bg2"/>
          </a:solidFill>
          <a:ln/>
        </p:spPr>
        <p:txBody>
          <a:bodyPr wrap="square" lIns="101600" tIns="101600" rIns="101600" bIns="10160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"movie": "Interstellar",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"language": "English",</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"rating": 9</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937760" y="1097280"/>
            <a:ext cx="3749040" cy="1234440"/>
          </a:xfrm>
          <a:prstGeom prst="rect">
            <a:avLst/>
          </a:prstGeom>
          <a:solidFill>
            <a:schemeClr val="bg2"/>
          </a:solidFill>
          <a:ln/>
        </p:spPr>
        <p:txBody>
          <a:bodyPr wrap="square" lIns="114300" tIns="114300" rIns="114300" bIns="114300" rtlCol="0" anchor="t"/>
          <a:lstStyle/>
          <a:p>
            <a:pPr indent="0" marL="0">
              <a:spcAft>
                <a:spcPts val="600"/>
              </a:spcAft>
              <a:buNone/>
            </a:pPr>
            <a:r>
              <a:rPr lang="en-US" sz="1500" b="1" dirty="0">
                <a:solidFill>
                  <a:schemeClr val="tx2"/>
                </a:solidFill>
              </a:rPr>
              <a:t>Multiple storage engines</a:t>
            </a:r>
            <a:endParaRPr lang="en-US" sz="1500" dirty="0"/>
          </a:p>
          <a:p>
            <a:pPr marL="190500" indent="-190500">
              <a:spcAft>
                <a:spcPts val="200"/>
              </a:spcAft>
              <a:buSzPct val="100000"/>
              <a:buChar char="•"/>
            </a:pPr>
            <a:r>
              <a:rPr lang="en-US" sz="1200" dirty="0">
                <a:solidFill>
                  <a:schemeClr val="tx1"/>
                </a:solidFill>
              </a:rPr>
              <a:t>Different engines for different storage requirements</a:t>
            </a:r>
            <a:endParaRPr lang="en-US" sz="1500" dirty="0"/>
          </a:p>
          <a:p>
            <a:pPr marL="190500" indent="-190500">
              <a:spcAft>
                <a:spcPts val="200"/>
              </a:spcAft>
              <a:buSzPct val="100000"/>
              <a:buChar char="•"/>
            </a:pPr>
            <a:r>
              <a:rPr lang="en-US" sz="1200" dirty="0">
                <a:solidFill>
                  <a:schemeClr val="tx1"/>
                </a:solidFill>
              </a:rPr>
              <a:t>Not every table is forced to use the same implementation</a:t>
            </a:r>
            <a:endParaRPr lang="en-US" sz="1500" dirty="0"/>
          </a:p>
        </p:txBody>
      </p:sp>
      <p:sp>
        <p:nvSpPr>
          <p:cNvPr id="7" name="Text 5"/>
          <p:cNvSpPr/>
          <p:nvPr/>
        </p:nvSpPr>
        <p:spPr>
          <a:xfrm>
            <a:off x="4937760" y="2468880"/>
            <a:ext cx="3749040" cy="2286000"/>
          </a:xfrm>
          <a:prstGeom prst="rect">
            <a:avLst/>
          </a:prstGeom>
          <a:solidFill>
            <a:schemeClr val="bg2"/>
          </a:solidFill>
          <a:ln/>
        </p:spPr>
        <p:txBody>
          <a:bodyPr wrap="square" lIns="114300" tIns="114300" rIns="114300" bIns="114300" rtlCol="0" anchor="t"/>
          <a:lstStyle/>
          <a:p>
            <a:pPr indent="0" marL="0">
              <a:spcAft>
                <a:spcPts val="600"/>
              </a:spcAft>
              <a:buNone/>
            </a:pPr>
            <a:r>
              <a:rPr lang="en-US" sz="1500" b="1" dirty="0">
                <a:solidFill>
                  <a:schemeClr val="tx2"/>
                </a:solidFill>
              </a:rPr>
              <a:t>Stored procedures and triggers</a:t>
            </a:r>
            <a:endParaRPr lang="en-US" sz="1500" dirty="0"/>
          </a:p>
          <a:p>
            <a:pPr marL="190500" indent="-190500">
              <a:spcAft>
                <a:spcPts val="300"/>
              </a:spcAft>
              <a:buSzPct val="100000"/>
              <a:buChar char="•"/>
            </a:pPr>
            <a:r>
              <a:rPr lang="en-US" sz="1200" dirty="0">
                <a:solidFill>
                  <a:schemeClr val="tx1"/>
                </a:solidFill>
              </a:rPr>
              <a:t>Stored procedure: a named collection of SQL statements stored in the database and run when called</a:t>
            </a:r>
            <a:endParaRPr lang="en-US" sz="1500" dirty="0"/>
          </a:p>
          <a:p>
            <a:pPr marL="190500" indent="-190500">
              <a:spcAft>
                <a:spcPts val="300"/>
              </a:spcAft>
              <a:buSzPct val="100000"/>
              <a:buChar char="•"/>
            </a:pPr>
            <a:r>
              <a:rPr lang="en-US" sz="1200" dirty="0">
                <a:solidFill>
                  <a:schemeClr val="tx1"/>
                </a:solidFill>
              </a:rPr>
              <a:t>Trigger: runs automatically on an event such as insert, update or delete</a:t>
            </a:r>
            <a:endParaRPr lang="en-US" sz="1500" dirty="0"/>
          </a:p>
          <a:p>
            <a:pPr marL="190500" indent="-190500">
              <a:spcAft>
                <a:spcPts val="300"/>
              </a:spcAft>
              <a:buSzPct val="100000"/>
              <a:buChar char="•"/>
            </a:pPr>
            <a:r>
              <a:rPr lang="en-US" sz="1200" dirty="0">
                <a:solidFill>
                  <a:schemeClr val="tx1"/>
                </a:solidFill>
              </a:rPr>
              <a:t>Uses: a procedure to calculate a student's total marks; a trigger to record an audit entry when a department changes</a:t>
            </a:r>
            <a:endParaRPr lang="en-US" sz="1500" dirty="0"/>
          </a:p>
          <a:p>
            <a:pPr marL="190500" indent="-190500">
              <a:spcAft>
                <a:spcPts val="300"/>
              </a:spcAft>
              <a:buSzPct val="100000"/>
              <a:buChar char="•"/>
            </a:pPr>
            <a:r>
              <a:rPr lang="en-US" sz="1200" dirty="0">
                <a:solidFill>
                  <a:schemeClr val="tx1"/>
                </a:solidFill>
              </a:rPr>
              <a:t>Centralize rules and automate repetitive work</a:t>
            </a:r>
            <a:endParaRPr lang="en-US" sz="15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MariaDB vs MySQL</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371600"/>
                <a:gridCol w="3429000"/>
                <a:gridCol w="342900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Point</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MariaDB</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MySQL</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r>
              <a:tr h="0">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Origin</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Forked from MySQL in 2009</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Original database project</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Main stewardship</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MariaDB community and Foundation; a commercial company also exists</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Oracle and its community</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Licensing</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Open-source releases under their licences; commercial offerings also exist</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Open-source Community Edition and commercial offerings</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Storage engines</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Multiple engine choices, including MariaDB-specific options</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Multiple engines, with InnoDB central to typical deployments</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Compatibility</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Substantial compatibility with MySQL</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Its own evolving implementation and features</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Performance</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Depends on version, workload, schema and configuration</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Depends on version, workload, schema and configuration</a:t>
                      </a:r>
                      <a:endParaRPr lang="en-US" sz="9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3200400"/>
            <a:ext cx="4023360" cy="150876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Are they the same? No</a:t>
            </a:r>
            <a:endParaRPr lang="en-US" sz="1400" dirty="0"/>
          </a:p>
          <a:p>
            <a:pPr marL="190500" indent="-190500">
              <a:spcAft>
                <a:spcPts val="200"/>
              </a:spcAft>
              <a:buSzPct val="100000"/>
              <a:buChar char="•"/>
            </a:pPr>
            <a:r>
              <a:rPr lang="en-US" sz="1100" dirty="0">
                <a:solidFill>
                  <a:schemeClr val="tx1"/>
                </a:solidFill>
              </a:rPr>
              <a:t>Common history and many SQL commands, protocols and connectors, but developed separately; SELECT * FROM Student; looks familiar in both</a:t>
            </a:r>
            <a:endParaRPr lang="en-US" sz="1400" dirty="0"/>
          </a:p>
          <a:p>
            <a:pPr marL="190500" indent="-190500">
              <a:spcAft>
                <a:spcPts val="200"/>
              </a:spcAft>
              <a:buSzPct val="100000"/>
              <a:buChar char="•"/>
            </a:pPr>
            <a:r>
              <a:rPr lang="en-US" sz="1100" dirty="0">
                <a:solidFill>
                  <a:schemeClr val="tx1"/>
                </a:solidFill>
              </a:rPr>
              <a:t>Advanced features, data types, authentication, replication setups and drivers may differ</a:t>
            </a:r>
            <a:endParaRPr lang="en-US" sz="1400" dirty="0"/>
          </a:p>
        </p:txBody>
      </p:sp>
      <p:sp>
        <p:nvSpPr>
          <p:cNvPr id="5" name="Text 2"/>
          <p:cNvSpPr/>
          <p:nvPr/>
        </p:nvSpPr>
        <p:spPr>
          <a:xfrm>
            <a:off x="4663440" y="3200400"/>
            <a:ext cx="4023360" cy="150876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Drop-in replacement</a:t>
            </a:r>
            <a:endParaRPr lang="en-US" sz="1400" dirty="0"/>
          </a:p>
          <a:p>
            <a:pPr marL="190500" indent="-190500">
              <a:spcAft>
                <a:spcPts val="200"/>
              </a:spcAft>
              <a:buSzPct val="100000"/>
              <a:buChar char="•"/>
            </a:pPr>
            <a:r>
              <a:rPr lang="en-US" sz="1100" dirty="0">
                <a:solidFill>
                  <a:schemeClr val="tx1"/>
                </a:solidFill>
              </a:rPr>
              <a:t>Software that can replace another with little change to the surrounding application</a:t>
            </a:r>
            <a:endParaRPr lang="en-US" sz="1400" dirty="0"/>
          </a:p>
          <a:p>
            <a:pPr marL="190500" indent="-190500">
              <a:spcAft>
                <a:spcPts val="200"/>
              </a:spcAft>
              <a:buSzPct val="100000"/>
              <a:buChar char="•"/>
            </a:pPr>
            <a:r>
              <a:rPr lang="en-US" sz="1100" dirty="0">
                <a:solidFill>
                  <a:schemeClr val="tx1"/>
                </a:solidFill>
              </a:rPr>
              <a:t>MariaDB can replace MySQL in many applications, not guaranteed in every case; test before migrating production</a:t>
            </a:r>
            <a:endParaRPr lang="en-US" sz="14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Key Strengths and Why Choose MariaDB</a:t>
            </a:r>
            <a:endParaRPr lang="en-US" sz="3000" dirty="0"/>
          </a:p>
        </p:txBody>
      </p:sp>
      <p:sp>
        <p:nvSpPr>
          <p:cNvPr id="3" name="Text 1"/>
          <p:cNvSpPr/>
          <p:nvPr/>
        </p:nvSpPr>
        <p:spPr>
          <a:xfrm>
            <a:off x="457200" y="1051560"/>
            <a:ext cx="1920240" cy="137160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Cost effectiveness</a:t>
            </a:r>
            <a:endParaRPr lang="en-US" sz="1400" dirty="0"/>
          </a:p>
          <a:p>
            <a:pPr indent="0" marL="0">
              <a:spcAft>
                <a:spcPts val="500"/>
              </a:spcAft>
              <a:buNone/>
            </a:pPr>
            <a:r>
              <a:rPr lang="en-US" sz="1100" dirty="0">
                <a:solidFill>
                  <a:schemeClr val="tx1"/>
                </a:solidFill>
              </a:rPr>
              <a:t>Open-source licensing can reduce software costs</a:t>
            </a:r>
            <a:endParaRPr lang="en-US" sz="1400" dirty="0"/>
          </a:p>
        </p:txBody>
      </p:sp>
      <p:sp>
        <p:nvSpPr>
          <p:cNvPr id="4" name="Text 2"/>
          <p:cNvSpPr/>
          <p:nvPr/>
        </p:nvSpPr>
        <p:spPr>
          <a:xfrm>
            <a:off x="2468880" y="1051560"/>
            <a:ext cx="1920240" cy="137160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Performance options</a:t>
            </a:r>
            <a:endParaRPr lang="en-US" sz="1400" dirty="0"/>
          </a:p>
          <a:p>
            <a:pPr indent="0" marL="0">
              <a:spcAft>
                <a:spcPts val="500"/>
              </a:spcAft>
              <a:buNone/>
            </a:pPr>
            <a:r>
              <a:rPr lang="en-US" sz="1100" dirty="0">
                <a:solidFill>
                  <a:schemeClr val="tx1"/>
                </a:solidFill>
              </a:rPr>
              <a:t>Indexes, query optimization and engine choices help tune performance</a:t>
            </a:r>
            <a:endParaRPr lang="en-US" sz="1400" dirty="0"/>
          </a:p>
        </p:txBody>
      </p:sp>
      <p:sp>
        <p:nvSpPr>
          <p:cNvPr id="5" name="Text 3"/>
          <p:cNvSpPr/>
          <p:nvPr/>
        </p:nvSpPr>
        <p:spPr>
          <a:xfrm>
            <a:off x="4480560" y="1051560"/>
            <a:ext cx="1920240" cy="137160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Security</a:t>
            </a:r>
            <a:endParaRPr lang="en-US" sz="1400" dirty="0"/>
          </a:p>
          <a:p>
            <a:pPr indent="0" marL="0">
              <a:spcAft>
                <a:spcPts val="500"/>
              </a:spcAft>
              <a:buNone/>
            </a:pPr>
            <a:r>
              <a:rPr lang="en-US" sz="1100" dirty="0">
                <a:solidFill>
                  <a:schemeClr val="tx1"/>
                </a:solidFill>
              </a:rPr>
              <a:t>Authentication, privileges, encryption and auditing options help protect data when configured correctly</a:t>
            </a:r>
            <a:endParaRPr lang="en-US" sz="1400" dirty="0"/>
          </a:p>
        </p:txBody>
      </p:sp>
      <p:sp>
        <p:nvSpPr>
          <p:cNvPr id="6" name="Text 4"/>
          <p:cNvSpPr/>
          <p:nvPr/>
        </p:nvSpPr>
        <p:spPr>
          <a:xfrm>
            <a:off x="457200" y="2514600"/>
            <a:ext cx="1920240" cy="137160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MySQL compatibility</a:t>
            </a:r>
            <a:endParaRPr lang="en-US" sz="1400" dirty="0"/>
          </a:p>
          <a:p>
            <a:pPr indent="0" marL="0">
              <a:spcAft>
                <a:spcPts val="500"/>
              </a:spcAft>
              <a:buNone/>
            </a:pPr>
            <a:r>
              <a:rPr lang="en-US" sz="1100" dirty="0">
                <a:solidFill>
                  <a:schemeClr val="tx1"/>
                </a:solidFill>
              </a:rPr>
              <a:t>Existing MySQL knowledge and many applications can transfer with limited changes</a:t>
            </a:r>
            <a:endParaRPr lang="en-US" sz="1400" dirty="0"/>
          </a:p>
        </p:txBody>
      </p:sp>
      <p:sp>
        <p:nvSpPr>
          <p:cNvPr id="7" name="Text 5"/>
          <p:cNvSpPr/>
          <p:nvPr/>
        </p:nvSpPr>
        <p:spPr>
          <a:xfrm>
            <a:off x="2468880" y="2514600"/>
            <a:ext cx="1920240" cy="137160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Community development</a:t>
            </a:r>
            <a:endParaRPr lang="en-US" sz="1400" dirty="0"/>
          </a:p>
          <a:p>
            <a:pPr indent="0" marL="0">
              <a:spcAft>
                <a:spcPts val="500"/>
              </a:spcAft>
              <a:buNone/>
            </a:pPr>
            <a:r>
              <a:rPr lang="en-US" sz="1100" dirty="0">
                <a:solidFill>
                  <a:schemeClr val="tx1"/>
                </a:solidFill>
              </a:rPr>
              <a:t>Documentation, issue reporting and contributions</a:t>
            </a:r>
            <a:endParaRPr lang="en-US" sz="1400" dirty="0"/>
          </a:p>
        </p:txBody>
      </p:sp>
      <p:sp>
        <p:nvSpPr>
          <p:cNvPr id="8" name="Text 6"/>
          <p:cNvSpPr/>
          <p:nvPr/>
        </p:nvSpPr>
        <p:spPr>
          <a:xfrm>
            <a:off x="4480560" y="2514600"/>
            <a:ext cx="1920240" cy="137160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Flexibility</a:t>
            </a:r>
            <a:endParaRPr lang="en-US" sz="1400" dirty="0"/>
          </a:p>
          <a:p>
            <a:pPr indent="0" marL="0">
              <a:spcAft>
                <a:spcPts val="500"/>
              </a:spcAft>
              <a:buNone/>
            </a:pPr>
            <a:r>
              <a:rPr lang="en-US" sz="1100" dirty="0">
                <a:solidFill>
                  <a:schemeClr val="tx1"/>
                </a:solidFill>
              </a:rPr>
              <a:t>Different storage engines and replication designs suit different workloads</a:t>
            </a:r>
            <a:endParaRPr lang="en-US" sz="1400" dirty="0"/>
          </a:p>
        </p:txBody>
      </p:sp>
      <p:pic>
        <p:nvPicPr>
          <p:cNvPr id="9" name="Image 0" descr="Benefits of MariaDB illustration">    </p:cNvPr>
          <p:cNvPicPr>
            <a:picLocks noChangeAspect="1"/>
          </p:cNvPicPr>
          <p:nvPr/>
        </p:nvPicPr>
        <p:blipFill>
          <a:blip r:embed="rId1"/>
          <a:stretch>
            <a:fillRect/>
          </a:stretch>
        </p:blipFill>
        <p:spPr>
          <a:xfrm>
            <a:off x="6583680" y="1053143"/>
            <a:ext cx="2103120" cy="2831473"/>
          </a:xfrm>
          <a:prstGeom prst="rect">
            <a:avLst/>
          </a:prstGeom>
        </p:spPr>
      </p:pic>
      <p:sp>
        <p:nvSpPr>
          <p:cNvPr id="10" name="Text 7"/>
          <p:cNvSpPr txBox="1"/>
          <p:nvPr/>
        </p:nvSpPr>
        <p:spPr>
          <a:xfrm>
            <a:off x="457200" y="4023360"/>
            <a:ext cx="8229600" cy="822960"/>
          </a:xfrm>
          <a:prstGeom prst="rect">
            <a:avLst/>
          </a:prstGeom>
          <a:noFill/>
          <a:ln/>
        </p:spPr>
        <p:txBody>
          <a:bodyPr wrap="square" lIns="50800" tIns="50800" rIns="50800" bIns="50800" rtlCol="0" anchor="t"/>
          <a:lstStyle/>
          <a:p>
            <a:pPr indent="0" marL="0">
              <a:spcAft>
                <a:spcPts val="300"/>
              </a:spcAft>
              <a:buNone/>
            </a:pPr>
            <a:r>
              <a:rPr lang="en-US" sz="1300" b="1" dirty="0">
                <a:solidFill>
                  <a:schemeClr val="tx1"/>
                </a:solidFill>
              </a:rPr>
              <a:t>Why choose MariaDB? </a:t>
            </a:r>
            <a:pPr indent="0" marL="0">
              <a:spcAft>
                <a:spcPts val="300"/>
              </a:spcAft>
              <a:buNone/>
            </a:pPr>
            <a:r>
              <a:rPr lang="en-US" sz="1300" dirty="0">
                <a:solidFill>
                  <a:schemeClr val="tx1"/>
                </a:solidFill>
              </a:rPr>
              <a:t>open-source database options; strong SQL support; flexible storage engines; transaction and replication capabilities; familiarity for developers who already know MySQL</a:t>
            </a:r>
            <a:endParaRPr lang="en-US" sz="1300" dirty="0"/>
          </a:p>
          <a:p>
            <a:pPr indent="0" marL="0">
              <a:spcAft>
                <a:spcPts val="300"/>
              </a:spcAft>
              <a:buNone/>
            </a:pPr>
            <a:r>
              <a:rPr lang="en-US" sz="1300" b="1" dirty="0">
                <a:solidFill>
                  <a:schemeClr val="tx1"/>
                </a:solidFill>
              </a:rPr>
              <a:t>Note: </a:t>
            </a:r>
            <a:pPr indent="0" marL="0">
              <a:spcAft>
                <a:spcPts val="300"/>
              </a:spcAft>
              <a:buNone/>
            </a:pPr>
            <a:r>
              <a:rPr lang="en-US" sz="1300" dirty="0">
                <a:solidFill>
                  <a:schemeClr val="tx1"/>
                </a:solidFill>
              </a:rPr>
              <a:t>MariaDB is not automatically faster than every other database; performance depends on queries, data size, indexes, server resources, version and configuration</a:t>
            </a:r>
            <a:endParaRPr lang="en-US" sz="13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Limitations and Considerations</a:t>
            </a:r>
            <a:endParaRPr lang="en-US" sz="3000" dirty="0"/>
          </a:p>
        </p:txBody>
      </p:sp>
      <p:sp>
        <p:nvSpPr>
          <p:cNvPr id="3" name="Text 1"/>
          <p:cNvSpPr txBox="1"/>
          <p:nvPr/>
        </p:nvSpPr>
        <p:spPr>
          <a:xfrm>
            <a:off x="457200" y="1097280"/>
            <a:ext cx="4572000" cy="3108960"/>
          </a:xfrm>
          <a:prstGeom prst="rect">
            <a:avLst/>
          </a:prstGeom>
          <a:noFill/>
          <a:ln/>
        </p:spPr>
        <p:txBody>
          <a:bodyPr wrap="square" lIns="50800" tIns="50800" rIns="50800" bIns="50800" rtlCol="0" anchor="t"/>
          <a:lstStyle/>
          <a:p>
            <a:pPr marL="190500" indent="-190500">
              <a:spcAft>
                <a:spcPts val="600"/>
              </a:spcAft>
              <a:buSzPct val="100000"/>
              <a:buChar char="•"/>
            </a:pPr>
            <a:r>
              <a:rPr lang="en-US" sz="1400" b="1" dirty="0">
                <a:solidFill>
                  <a:schemeClr val="tx1"/>
                </a:solidFill>
              </a:rPr>
              <a:t>Enterprise adoption and ecosystem: </a:t>
            </a:r>
            <a:pPr indent="0" marL="0">
              <a:spcAft>
                <a:spcPts val="600"/>
              </a:spcAft>
              <a:buNone/>
            </a:pPr>
            <a:r>
              <a:rPr lang="en-US" sz="1400" dirty="0">
                <a:solidFill>
                  <a:schemeClr val="tx1"/>
                </a:solidFill>
              </a:rPr>
              <a:t>used in production, but ecosystem and adoption differ from Oracle Database and other enterprise platforms; commercial tools and support may differ</a:t>
            </a:r>
            <a:endParaRPr lang="en-US" sz="1400" dirty="0"/>
          </a:p>
          <a:p>
            <a:pPr marL="190500" indent="-190500">
              <a:spcAft>
                <a:spcPts val="600"/>
              </a:spcAft>
              <a:buSzPct val="100000"/>
              <a:buChar char="•"/>
            </a:pPr>
            <a:r>
              <a:rPr lang="en-US" sz="1400" b="1" dirty="0">
                <a:solidFill>
                  <a:schemeClr val="tx1"/>
                </a:solidFill>
              </a:rPr>
              <a:t>Clustering complexity: </a:t>
            </a:r>
            <a:pPr indent="0" marL="0">
              <a:spcAft>
                <a:spcPts val="600"/>
              </a:spcAft>
              <a:buNone/>
            </a:pPr>
            <a:r>
              <a:rPr lang="en-US" sz="1400" dirty="0">
                <a:solidFill>
                  <a:schemeClr val="tx1"/>
                </a:solidFill>
              </a:rPr>
              <a:t>advanced clustering, including Galera, needs careful setup and monitoring (node failures, network delays, quorum, conflicts, recovery)</a:t>
            </a:r>
            <a:endParaRPr lang="en-US" sz="1400" dirty="0"/>
          </a:p>
          <a:p>
            <a:pPr marL="190500" indent="-190500">
              <a:spcAft>
                <a:spcPts val="600"/>
              </a:spcAft>
              <a:buSzPct val="100000"/>
              <a:buChar char="•"/>
            </a:pPr>
            <a:r>
              <a:rPr lang="en-US" sz="1400" b="1" dirty="0">
                <a:solidFill>
                  <a:schemeClr val="tx1"/>
                </a:solidFill>
              </a:rPr>
              <a:t>Commercial tooling: </a:t>
            </a:r>
            <a:pPr indent="0" marL="0">
              <a:spcAft>
                <a:spcPts val="600"/>
              </a:spcAft>
              <a:buNone/>
            </a:pPr>
            <a:r>
              <a:rPr lang="en-US" sz="1400" dirty="0">
                <a:solidFill>
                  <a:schemeClr val="tx1"/>
                </a:solidFill>
              </a:rPr>
              <a:t>a particular enterprise management tool, integration or support service may not be available in the form required; check before choosing</a:t>
            </a:r>
            <a:endParaRPr lang="en-US" sz="1400" dirty="0"/>
          </a:p>
        </p:txBody>
      </p:sp>
      <p:sp>
        <p:nvSpPr>
          <p:cNvPr id="4" name="Text 2"/>
          <p:cNvSpPr/>
          <p:nvPr/>
        </p:nvSpPr>
        <p:spPr>
          <a:xfrm>
            <a:off x="5212080" y="1097280"/>
            <a:ext cx="3474720" cy="3108960"/>
          </a:xfrm>
          <a:prstGeom prst="rect">
            <a:avLst/>
          </a:prstGeom>
          <a:solidFill>
            <a:schemeClr val="bg2"/>
          </a:solidFill>
          <a:ln/>
        </p:spPr>
        <p:txBody>
          <a:bodyPr wrap="square" lIns="114300" tIns="114300" rIns="114300" bIns="114300" rtlCol="0" anchor="t"/>
          <a:lstStyle/>
          <a:p>
            <a:pPr indent="0" marL="0">
              <a:spcAft>
                <a:spcPts val="600"/>
              </a:spcAft>
              <a:buNone/>
            </a:pPr>
            <a:r>
              <a:rPr lang="en-US" sz="1700" b="1" dirty="0">
                <a:solidFill>
                  <a:schemeClr val="tx2"/>
                </a:solidFill>
              </a:rPr>
              <a:t>Other practical challenges</a:t>
            </a:r>
            <a:endParaRPr lang="en-US" sz="1700" dirty="0"/>
          </a:p>
          <a:p>
            <a:pPr marL="190500" indent="-190500">
              <a:spcAft>
                <a:spcPts val="400"/>
              </a:spcAft>
              <a:buSzPct val="100000"/>
              <a:buChar char="•"/>
            </a:pPr>
            <a:r>
              <a:rPr lang="en-US" sz="1400" dirty="0">
                <a:solidFill>
                  <a:schemeClr val="tx1"/>
                </a:solidFill>
              </a:rPr>
              <a:t>Poorly designed queries can be slow</a:t>
            </a:r>
            <a:endParaRPr lang="en-US" sz="1700" dirty="0"/>
          </a:p>
          <a:p>
            <a:pPr marL="190500" indent="-190500">
              <a:spcAft>
                <a:spcPts val="400"/>
              </a:spcAft>
              <a:buSzPct val="100000"/>
              <a:buChar char="•"/>
            </a:pPr>
            <a:r>
              <a:rPr lang="en-US" sz="1400" dirty="0">
                <a:solidFill>
                  <a:schemeClr val="tx1"/>
                </a:solidFill>
              </a:rPr>
              <a:t>Missing or excessive indexes can harm performance</a:t>
            </a:r>
            <a:endParaRPr lang="en-US" sz="1700" dirty="0"/>
          </a:p>
          <a:p>
            <a:pPr marL="190500" indent="-190500">
              <a:spcAft>
                <a:spcPts val="400"/>
              </a:spcAft>
              <a:buSzPct val="100000"/>
              <a:buChar char="•"/>
            </a:pPr>
            <a:r>
              <a:rPr lang="en-US" sz="1400" dirty="0">
                <a:solidFill>
                  <a:schemeClr val="tx1"/>
                </a:solidFill>
              </a:rPr>
              <a:t>Backups and recovery need planning</a:t>
            </a:r>
            <a:endParaRPr lang="en-US" sz="1700" dirty="0"/>
          </a:p>
          <a:p>
            <a:pPr marL="190500" indent="-190500">
              <a:spcAft>
                <a:spcPts val="400"/>
              </a:spcAft>
              <a:buSzPct val="100000"/>
              <a:buChar char="•"/>
            </a:pPr>
            <a:r>
              <a:rPr lang="en-US" sz="1400" dirty="0">
                <a:solidFill>
                  <a:schemeClr val="tx1"/>
                </a:solidFill>
              </a:rPr>
              <a:t>Security depends on correct configuration</a:t>
            </a:r>
            <a:endParaRPr lang="en-US" sz="1700" dirty="0"/>
          </a:p>
          <a:p>
            <a:pPr marL="190500" indent="-190500">
              <a:spcAft>
                <a:spcPts val="400"/>
              </a:spcAft>
              <a:buSzPct val="100000"/>
              <a:buChar char="•"/>
            </a:pPr>
            <a:r>
              <a:rPr lang="en-US" sz="1400" dirty="0">
                <a:solidFill>
                  <a:schemeClr val="tx1"/>
                </a:solidFill>
              </a:rPr>
              <a:t>Migration from MySQL can require application or SQL changes</a:t>
            </a:r>
            <a:endParaRPr lang="en-US" sz="1700" dirty="0"/>
          </a:p>
        </p:txBody>
      </p:sp>
      <p:sp>
        <p:nvSpPr>
          <p:cNvPr id="5" name="Text 3"/>
          <p:cNvSpPr txBox="1"/>
          <p:nvPr/>
        </p:nvSpPr>
        <p:spPr>
          <a:xfrm>
            <a:off x="457200" y="4297680"/>
            <a:ext cx="8229600" cy="457200"/>
          </a:xfrm>
          <a:prstGeom prst="rect">
            <a:avLst/>
          </a:prstGeom>
          <a:noFill/>
          <a:ln/>
        </p:spPr>
        <p:txBody>
          <a:bodyPr wrap="square" lIns="50800" tIns="50800" rIns="50800" bIns="50800" rtlCol="0" anchor="ctr"/>
          <a:lstStyle/>
          <a:p>
            <a:pPr indent="0" marL="0">
              <a:buNone/>
            </a:pPr>
            <a:r>
              <a:rPr lang="en-US" sz="1400" dirty="0">
                <a:solidFill>
                  <a:schemeClr val="tx1"/>
                </a:solidFill>
              </a:rPr>
              <a:t>Main lesson: MariaDB is a capable database, but good database design and administration are still necessary.</a:t>
            </a:r>
            <a:endParaRPr lang="en-US" sz="14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Applications and Real-World Use Cases</a:t>
            </a:r>
            <a:endParaRPr lang="en-US" sz="3000" dirty="0"/>
          </a:p>
        </p:txBody>
      </p:sp>
      <p:sp>
        <p:nvSpPr>
          <p:cNvPr id="3" name="Text 1"/>
          <p:cNvSpPr/>
          <p:nvPr/>
        </p:nvSpPr>
        <p:spPr>
          <a:xfrm>
            <a:off x="457200" y="1097280"/>
            <a:ext cx="2560320" cy="1691640"/>
          </a:xfrm>
          <a:prstGeom prst="rect">
            <a:avLst/>
          </a:prstGeom>
          <a:solidFill>
            <a:schemeClr val="bg2"/>
          </a:solidFill>
          <a:ln/>
        </p:spPr>
        <p:txBody>
          <a:bodyPr wrap="square" lIns="114300" tIns="114300" rIns="114300" bIns="114300" rtlCol="0" anchor="t"/>
          <a:lstStyle/>
          <a:p>
            <a:pPr indent="0" marL="0">
              <a:spcAft>
                <a:spcPts val="600"/>
              </a:spcAft>
              <a:buNone/>
            </a:pPr>
            <a:r>
              <a:rPr lang="en-US" sz="1600" b="1" dirty="0">
                <a:solidFill>
                  <a:schemeClr val="tx2"/>
                </a:solidFill>
              </a:rPr>
              <a:t>Banking systems</a:t>
            </a:r>
            <a:endParaRPr lang="en-US" sz="1600" dirty="0"/>
          </a:p>
          <a:p>
            <a:pPr indent="0" marL="0">
              <a:spcAft>
                <a:spcPts val="500"/>
              </a:spcAft>
              <a:buNone/>
            </a:pPr>
            <a:r>
              <a:rPr lang="en-US" sz="1300" dirty="0">
                <a:solidFill>
                  <a:schemeClr val="tx1"/>
                </a:solidFill>
              </a:rPr>
              <a:t>Customer information, transaction records and account details; transactions need careful integrity and security controls</a:t>
            </a:r>
            <a:endParaRPr lang="en-US" sz="1600" dirty="0"/>
          </a:p>
        </p:txBody>
      </p:sp>
      <p:sp>
        <p:nvSpPr>
          <p:cNvPr id="4" name="Text 2"/>
          <p:cNvSpPr/>
          <p:nvPr/>
        </p:nvSpPr>
        <p:spPr>
          <a:xfrm>
            <a:off x="3291840" y="1097280"/>
            <a:ext cx="2560320" cy="1691640"/>
          </a:xfrm>
          <a:prstGeom prst="rect">
            <a:avLst/>
          </a:prstGeom>
          <a:solidFill>
            <a:schemeClr val="bg2"/>
          </a:solidFill>
          <a:ln/>
        </p:spPr>
        <p:txBody>
          <a:bodyPr wrap="square" lIns="114300" tIns="114300" rIns="114300" bIns="114300" rtlCol="0" anchor="t"/>
          <a:lstStyle/>
          <a:p>
            <a:pPr indent="0" marL="0">
              <a:spcAft>
                <a:spcPts val="600"/>
              </a:spcAft>
              <a:buNone/>
            </a:pPr>
            <a:r>
              <a:rPr lang="en-US" sz="1600" b="1" dirty="0">
                <a:solidFill>
                  <a:schemeClr val="tx2"/>
                </a:solidFill>
              </a:rPr>
              <a:t>E-commerce</a:t>
            </a:r>
            <a:endParaRPr lang="en-US" sz="1600" dirty="0"/>
          </a:p>
          <a:p>
            <a:pPr indent="0" marL="0">
              <a:spcAft>
                <a:spcPts val="500"/>
              </a:spcAft>
              <a:buNone/>
            </a:pPr>
            <a:r>
              <a:rPr lang="en-US" sz="1300" dirty="0">
                <a:solidFill>
                  <a:schemeClr val="tx1"/>
                </a:solidFill>
              </a:rPr>
              <a:t>Products, customers, orders, payments and inventory; indexes and suitable architectures support growing traffic</a:t>
            </a:r>
            <a:endParaRPr lang="en-US" sz="1600" dirty="0"/>
          </a:p>
        </p:txBody>
      </p:sp>
      <p:sp>
        <p:nvSpPr>
          <p:cNvPr id="5" name="Text 3"/>
          <p:cNvSpPr/>
          <p:nvPr/>
        </p:nvSpPr>
        <p:spPr>
          <a:xfrm>
            <a:off x="6126480" y="1097280"/>
            <a:ext cx="2560320" cy="1691640"/>
          </a:xfrm>
          <a:prstGeom prst="rect">
            <a:avLst/>
          </a:prstGeom>
          <a:solidFill>
            <a:schemeClr val="bg2"/>
          </a:solidFill>
          <a:ln/>
        </p:spPr>
        <p:txBody>
          <a:bodyPr wrap="square" lIns="114300" tIns="114300" rIns="114300" bIns="114300" rtlCol="0" anchor="t"/>
          <a:lstStyle/>
          <a:p>
            <a:pPr indent="0" marL="0">
              <a:spcAft>
                <a:spcPts val="600"/>
              </a:spcAft>
              <a:buNone/>
            </a:pPr>
            <a:r>
              <a:rPr lang="en-US" sz="1600" b="1" dirty="0">
                <a:solidFill>
                  <a:schemeClr val="tx2"/>
                </a:solidFill>
              </a:rPr>
              <a:t>Educational institutions</a:t>
            </a:r>
            <a:endParaRPr lang="en-US" sz="1600" dirty="0"/>
          </a:p>
          <a:p>
            <a:pPr indent="0" marL="0">
              <a:spcAft>
                <a:spcPts val="500"/>
              </a:spcAft>
              <a:buNone/>
            </a:pPr>
            <a:r>
              <a:rPr lang="en-US" sz="1300" dirty="0">
                <a:solidFill>
                  <a:schemeClr val="tx1"/>
                </a:solidFill>
              </a:rPr>
              <a:t>Student records, course details, grades, attendance and enrollment data</a:t>
            </a:r>
            <a:endParaRPr lang="en-US" sz="1600" dirty="0"/>
          </a:p>
        </p:txBody>
      </p:sp>
      <p:sp>
        <p:nvSpPr>
          <p:cNvPr id="6" name="Text 4"/>
          <p:cNvSpPr/>
          <p:nvPr/>
        </p:nvSpPr>
        <p:spPr>
          <a:xfrm>
            <a:off x="457200" y="2926080"/>
            <a:ext cx="2560320" cy="1691640"/>
          </a:xfrm>
          <a:prstGeom prst="rect">
            <a:avLst/>
          </a:prstGeom>
          <a:solidFill>
            <a:schemeClr val="bg2"/>
          </a:solidFill>
          <a:ln/>
        </p:spPr>
        <p:txBody>
          <a:bodyPr wrap="square" lIns="114300" tIns="114300" rIns="114300" bIns="114300" rtlCol="0" anchor="t"/>
          <a:lstStyle/>
          <a:p>
            <a:pPr indent="0" marL="0">
              <a:spcAft>
                <a:spcPts val="600"/>
              </a:spcAft>
              <a:buNone/>
            </a:pPr>
            <a:r>
              <a:rPr lang="en-US" sz="1600" b="1" dirty="0">
                <a:solidFill>
                  <a:schemeClr val="tx2"/>
                </a:solidFill>
              </a:rPr>
              <a:t>Healthcare</a:t>
            </a:r>
            <a:endParaRPr lang="en-US" sz="1600" dirty="0"/>
          </a:p>
          <a:p>
            <a:pPr indent="0" marL="0">
              <a:spcAft>
                <a:spcPts val="500"/>
              </a:spcAft>
              <a:buNone/>
            </a:pPr>
            <a:r>
              <a:rPr lang="en-US" sz="1300" dirty="0">
                <a:solidFill>
                  <a:schemeClr val="tx1"/>
                </a:solidFill>
              </a:rPr>
              <a:t>Patient appointments and other structured records; access controls, privacy and regulatory compliance are essential</a:t>
            </a:r>
            <a:endParaRPr lang="en-US" sz="1600" dirty="0"/>
          </a:p>
        </p:txBody>
      </p:sp>
      <p:sp>
        <p:nvSpPr>
          <p:cNvPr id="7" name="Text 5"/>
          <p:cNvSpPr/>
          <p:nvPr/>
        </p:nvSpPr>
        <p:spPr>
          <a:xfrm>
            <a:off x="3291840" y="2926080"/>
            <a:ext cx="2560320" cy="1691640"/>
          </a:xfrm>
          <a:prstGeom prst="rect">
            <a:avLst/>
          </a:prstGeom>
          <a:solidFill>
            <a:schemeClr val="bg2"/>
          </a:solidFill>
          <a:ln/>
        </p:spPr>
        <p:txBody>
          <a:bodyPr wrap="square" lIns="114300" tIns="114300" rIns="114300" bIns="114300" rtlCol="0" anchor="t"/>
          <a:lstStyle/>
          <a:p>
            <a:pPr indent="0" marL="0">
              <a:spcAft>
                <a:spcPts val="600"/>
              </a:spcAft>
              <a:buNone/>
            </a:pPr>
            <a:r>
              <a:rPr lang="en-US" sz="1600" b="1" dirty="0">
                <a:solidFill>
                  <a:schemeClr val="tx2"/>
                </a:solidFill>
              </a:rPr>
              <a:t>Government services</a:t>
            </a:r>
            <a:endParaRPr lang="en-US" sz="1600" dirty="0"/>
          </a:p>
          <a:p>
            <a:pPr indent="0" marL="0">
              <a:spcAft>
                <a:spcPts val="500"/>
              </a:spcAft>
              <a:buNone/>
            </a:pPr>
            <a:r>
              <a:rPr lang="en-US" sz="1300" dirty="0">
                <a:solidFill>
                  <a:schemeClr val="tx1"/>
                </a:solidFill>
              </a:rPr>
              <a:t>Citizen records, applications and administrative systems where security and reliable recordkeeping matter</a:t>
            </a:r>
            <a:endParaRPr lang="en-US" sz="1600" dirty="0"/>
          </a:p>
        </p:txBody>
      </p:sp>
      <p:sp>
        <p:nvSpPr>
          <p:cNvPr id="8" name="Text 6"/>
          <p:cNvSpPr/>
          <p:nvPr/>
        </p:nvSpPr>
        <p:spPr>
          <a:xfrm>
            <a:off x="6126480" y="2926080"/>
            <a:ext cx="2560320" cy="1691640"/>
          </a:xfrm>
          <a:prstGeom prst="rect">
            <a:avLst/>
          </a:prstGeom>
          <a:solidFill>
            <a:schemeClr val="bg2"/>
          </a:solidFill>
          <a:ln/>
        </p:spPr>
        <p:txBody>
          <a:bodyPr wrap="square" lIns="114300" tIns="114300" rIns="114300" bIns="114300" rtlCol="0" anchor="t"/>
          <a:lstStyle/>
          <a:p>
            <a:pPr indent="0" marL="0">
              <a:spcAft>
                <a:spcPts val="600"/>
              </a:spcAft>
              <a:buNone/>
            </a:pPr>
            <a:r>
              <a:rPr lang="en-US" sz="1600" b="1" dirty="0">
                <a:solidFill>
                  <a:schemeClr val="tx2"/>
                </a:solidFill>
              </a:rPr>
              <a:t>Cloud platforms</a:t>
            </a:r>
            <a:endParaRPr lang="en-US" sz="1600" dirty="0"/>
          </a:p>
          <a:p>
            <a:pPr indent="0" marL="0">
              <a:spcAft>
                <a:spcPts val="500"/>
              </a:spcAft>
              <a:buNone/>
            </a:pPr>
            <a:r>
              <a:rPr lang="en-US" sz="1300" dirty="0">
                <a:solidFill>
                  <a:schemeClr val="tx1"/>
                </a:solidFill>
              </a:rPr>
              <a:t>Run in virtual machines or containers, or use a managed MariaDB service where available</a:t>
            </a:r>
            <a:endParaRPr lang="en-US" sz="16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Example Project: Movie Booking System</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297680" cy="914400"/>
        </p:xfrm>
        <a:graphic>
          <a:graphicData uri="http://schemas.openxmlformats.org/drawingml/2006/table">
            <a:tbl>
              <a:tblPr/>
              <a:tblGrid>
                <a:gridCol w="1188720"/>
                <a:gridCol w="3108960"/>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Table</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stores</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r>
              <a:tr h="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movies</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Movie names, genres, durations</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theaters</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Theater names and locations</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shows</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Which movie plays at which theater and when</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tickets</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Customer names, seats, booking status</a:t>
                      </a:r>
                      <a:endParaRPr lang="en-US" sz="15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029200" y="1143000"/>
            <a:ext cx="3657600" cy="3566160"/>
          </a:xfrm>
          <a:prstGeom prst="rect">
            <a:avLst/>
          </a:prstGeom>
          <a:noFill/>
          <a:ln/>
        </p:spPr>
        <p:txBody>
          <a:bodyPr wrap="square" lIns="50800" tIns="50800" rIns="50800" bIns="50800" rtlCol="0" anchor="t"/>
          <a:lstStyle/>
          <a:p>
            <a:pPr marL="190500" indent="-190500">
              <a:spcAft>
                <a:spcPts val="600"/>
              </a:spcAft>
              <a:buSzPct val="100000"/>
              <a:buChar char="•"/>
            </a:pPr>
            <a:r>
              <a:rPr lang="en-US" sz="1700" dirty="0">
                <a:solidFill>
                  <a:schemeClr val="tx1"/>
                </a:solidFill>
              </a:rPr>
              <a:t>MariaDB manages these records</a:t>
            </a:r>
            <a:endParaRPr lang="en-US" sz="1700" dirty="0"/>
          </a:p>
          <a:p>
            <a:pPr marL="190500" indent="-190500">
              <a:spcAft>
                <a:spcPts val="600"/>
              </a:spcAft>
              <a:buSzPct val="100000"/>
              <a:buChar char="•"/>
            </a:pPr>
            <a:r>
              <a:rPr lang="en-US" sz="1700" dirty="0">
                <a:solidFill>
                  <a:schemeClr val="tx1"/>
                </a:solidFill>
              </a:rPr>
              <a:t>Primary and foreign keys connect the tables</a:t>
            </a:r>
            <a:endParaRPr lang="en-US" sz="1700" dirty="0"/>
          </a:p>
          <a:p>
            <a:pPr marL="190500" indent="-190500">
              <a:spcAft>
                <a:spcPts val="600"/>
              </a:spcAft>
              <a:buSzPct val="100000"/>
              <a:buChar char="•"/>
            </a:pPr>
            <a:r>
              <a:rPr lang="en-US" sz="1700" dirty="0">
                <a:solidFill>
                  <a:schemeClr val="tx1"/>
                </a:solidFill>
              </a:rPr>
              <a:t>Indexes help suitable searches</a:t>
            </a:r>
            <a:endParaRPr lang="en-US" sz="1700" dirty="0"/>
          </a:p>
          <a:p>
            <a:pPr marL="190500" indent="-190500">
              <a:spcAft>
                <a:spcPts val="600"/>
              </a:spcAft>
              <a:buSzPct val="100000"/>
              <a:buChar char="•"/>
            </a:pPr>
            <a:r>
              <a:rPr lang="en-US" sz="1700" dirty="0">
                <a:solidFill>
                  <a:schemeClr val="tx1"/>
                </a:solidFill>
              </a:rPr>
              <a:t>Transactions help protect related booking operations</a:t>
            </a:r>
            <a:endParaRPr lang="en-US" sz="1700" dirty="0"/>
          </a:p>
          <a:p>
            <a:pPr marL="190500" indent="-190500">
              <a:spcAft>
                <a:spcPts val="600"/>
              </a:spcAft>
              <a:buSzPct val="100000"/>
              <a:buChar char="•"/>
            </a:pPr>
            <a:r>
              <a:rPr lang="en-US" sz="1700" dirty="0">
                <a:solidFill>
                  <a:schemeClr val="tx1"/>
                </a:solidFill>
              </a:rPr>
              <a:t>Application logic and constraints must prevent two customers from booking the same seat for the same show</a:t>
            </a:r>
            <a:endParaRPr lang="en-US" sz="17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Hands-on SQL: Create, Insert and Read</a:t>
            </a:r>
            <a:endParaRPr lang="en-US" sz="3000" dirty="0"/>
          </a:p>
        </p:txBody>
      </p:sp>
      <p:sp>
        <p:nvSpPr>
          <p:cNvPr id="3" name="Text 1"/>
          <p:cNvSpPr txBox="1"/>
          <p:nvPr/>
        </p:nvSpPr>
        <p:spPr>
          <a:xfrm>
            <a:off x="457200" y="1051560"/>
            <a:ext cx="3931920" cy="3200400"/>
          </a:xfrm>
          <a:prstGeom prst="rect">
            <a:avLst/>
          </a:prstGeom>
          <a:solidFill>
            <a:schemeClr val="bg2"/>
          </a:solidFill>
          <a:ln/>
        </p:spPr>
        <p:txBody>
          <a:bodyPr wrap="square" lIns="101600" tIns="101600" rIns="101600" bIns="10160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CREATE DATABASE CollegeDB;</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USE CollegeDB;</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CREATE TABLE Student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StudentID INT PRIMARY KEY,</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Name VARCHAR(50),</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Department VARCHAR(20)</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INSERT INTO Student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VALUES (101, 'Rahul', 'CSE');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INSERT INTO Student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VALUES (102, 'Priya', 'IT');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SELECT * FROM Student;</a:t>
            </a:r>
            <a:endParaRPr lang="en-US" sz="1200" dirty="0"/>
          </a:p>
        </p:txBody>
      </p:sp>
      <p:sp>
        <p:nvSpPr>
          <p:cNvPr id="4" name="Text 2"/>
          <p:cNvSpPr txBox="1"/>
          <p:nvPr/>
        </p:nvSpPr>
        <p:spPr>
          <a:xfrm>
            <a:off x="4663440" y="1051560"/>
            <a:ext cx="4023360" cy="1828800"/>
          </a:xfrm>
          <a:prstGeom prst="rect">
            <a:avLst/>
          </a:prstGeom>
          <a:noFill/>
          <a:ln/>
        </p:spPr>
        <p:txBody>
          <a:bodyPr wrap="square" lIns="50800" tIns="50800" rIns="50800" bIns="50800" rtlCol="0" anchor="t"/>
          <a:lstStyle/>
          <a:p>
            <a:pPr marL="190500" indent="-190500">
              <a:spcAft>
                <a:spcPts val="300"/>
              </a:spcAft>
              <a:buSzPct val="100000"/>
              <a:buChar char="•"/>
            </a:pPr>
            <a:r>
              <a:rPr lang="en-US" sz="1300" b="1" dirty="0">
                <a:solidFill>
                  <a:schemeClr val="tx1"/>
                </a:solidFill>
              </a:rPr>
              <a:t>CREATE DATABASE / USE: </a:t>
            </a:r>
            <a:pPr indent="0" marL="0">
              <a:spcAft>
                <a:spcPts val="300"/>
              </a:spcAft>
              <a:buNone/>
            </a:pPr>
            <a:r>
              <a:rPr lang="en-US" sz="1300" dirty="0">
                <a:solidFill>
                  <a:schemeClr val="tx1"/>
                </a:solidFill>
              </a:rPr>
              <a:t>create a database and select it</a:t>
            </a:r>
            <a:endParaRPr lang="en-US" sz="1300" dirty="0"/>
          </a:p>
          <a:p>
            <a:pPr marL="190500" indent="-190500">
              <a:spcAft>
                <a:spcPts val="300"/>
              </a:spcAft>
              <a:buSzPct val="100000"/>
              <a:buChar char="•"/>
            </a:pPr>
            <a:r>
              <a:rPr lang="en-US" sz="1300" b="1" dirty="0">
                <a:solidFill>
                  <a:schemeClr val="tx1"/>
                </a:solidFill>
              </a:rPr>
              <a:t>CREATE TABLE: </a:t>
            </a:r>
            <a:pPr indent="0" marL="0">
              <a:spcAft>
                <a:spcPts val="300"/>
              </a:spcAft>
              <a:buNone/>
            </a:pPr>
            <a:r>
              <a:rPr lang="en-US" sz="1300" dirty="0">
                <a:solidFill>
                  <a:schemeClr val="tx1"/>
                </a:solidFill>
              </a:rPr>
              <a:t>StudentID INT PRIMARY KEY (unique, non-null); Name VARCHAR(50); Department VARCHAR(20)</a:t>
            </a:r>
            <a:endParaRPr lang="en-US" sz="1300" dirty="0"/>
          </a:p>
          <a:p>
            <a:pPr marL="190500" indent="-190500">
              <a:spcAft>
                <a:spcPts val="300"/>
              </a:spcAft>
              <a:buSzPct val="100000"/>
              <a:buChar char="•"/>
            </a:pPr>
            <a:r>
              <a:rPr lang="en-US" sz="1300" b="1" dirty="0">
                <a:solidFill>
                  <a:schemeClr val="tx1"/>
                </a:solidFill>
              </a:rPr>
              <a:t>INSERT: </a:t>
            </a:r>
            <a:pPr indent="0" marL="0">
              <a:spcAft>
                <a:spcPts val="300"/>
              </a:spcAft>
              <a:buNone/>
            </a:pPr>
            <a:r>
              <a:rPr lang="en-US" sz="1300" dirty="0">
                <a:solidFill>
                  <a:schemeClr val="tx1"/>
                </a:solidFill>
              </a:rPr>
              <a:t>adds Rahul, then Priya</a:t>
            </a:r>
            <a:endParaRPr lang="en-US" sz="1300" dirty="0"/>
          </a:p>
          <a:p>
            <a:pPr marL="190500" indent="-190500">
              <a:spcAft>
                <a:spcPts val="300"/>
              </a:spcAft>
              <a:buSzPct val="100000"/>
              <a:buChar char="•"/>
            </a:pPr>
            <a:r>
              <a:rPr lang="en-US" sz="1300" b="1" dirty="0">
                <a:solidFill>
                  <a:schemeClr val="tx1"/>
                </a:solidFill>
              </a:rPr>
              <a:t>SELECT *: </a:t>
            </a:r>
            <a:pPr indent="0" marL="0">
              <a:spcAft>
                <a:spcPts val="300"/>
              </a:spcAft>
              <a:buNone/>
            </a:pPr>
            <a:r>
              <a:rPr lang="en-US" sz="1300" dirty="0">
                <a:solidFill>
                  <a:schemeClr val="tx1"/>
                </a:solidFill>
              </a:rPr>
              <a:t>reads all columns</a:t>
            </a:r>
            <a:endParaRPr lang="en-US" sz="1300" dirty="0"/>
          </a:p>
        </p:txBody>
      </p:sp>
      <p:sp>
        <p:nvSpPr>
          <p:cNvPr id="5" name="Text 3"/>
          <p:cNvSpPr txBox="1"/>
          <p:nvPr/>
        </p:nvSpPr>
        <p:spPr>
          <a:xfrm>
            <a:off x="4663440" y="2926080"/>
            <a:ext cx="3657600" cy="274320"/>
          </a:xfrm>
          <a:prstGeom prst="rect">
            <a:avLst/>
          </a:prstGeom>
          <a:noFill/>
          <a:ln/>
        </p:spPr>
        <p:txBody>
          <a:bodyPr wrap="square" lIns="25400" tIns="25400" rIns="25400" bIns="25400" rtlCol="0" anchor="ctr"/>
          <a:lstStyle/>
          <a:p>
            <a:pPr indent="0" marL="0">
              <a:buNone/>
            </a:pPr>
            <a:r>
              <a:rPr lang="en-US" sz="1400" b="1" dirty="0">
                <a:solidFill>
                  <a:schemeClr val="tx2"/>
                </a:solidFill>
              </a:rPr>
              <a:t>Expected output</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663440" y="3200400"/>
          <a:ext cx="3931920" cy="914400"/>
        </p:xfrm>
        <a:graphic>
          <a:graphicData uri="http://schemas.openxmlformats.org/drawingml/2006/table">
            <a:tbl>
              <a:tblPr/>
              <a:tblGrid>
                <a:gridCol w="1280160"/>
                <a:gridCol w="1097280"/>
                <a:gridCol w="1554480"/>
              </a:tblGrid>
              <a:tr h="2743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StudentID</a:t>
                      </a:r>
                      <a:endParaRPr lang="en-US" sz="14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Department</a:t>
                      </a:r>
                      <a:endParaRPr lang="en-US" sz="14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r>
              <a:tr h="27432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101</a:t>
                      </a:r>
                      <a:endParaRPr lang="en-US" sz="14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Rahul</a:t>
                      </a:r>
                      <a:endParaRPr lang="en-US" sz="14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CSE</a:t>
                      </a:r>
                      <a:endParaRPr lang="en-US" sz="14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Priya</a:t>
                      </a:r>
                      <a:endParaRPr lang="en-US" sz="14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IT</a:t>
                      </a:r>
                      <a:endParaRPr lang="en-US" sz="14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4343400"/>
            <a:ext cx="8229600" cy="457200"/>
          </a:xfrm>
          <a:prstGeom prst="rect">
            <a:avLst/>
          </a:prstGeom>
          <a:noFill/>
          <a:ln/>
        </p:spPr>
        <p:txBody>
          <a:bodyPr wrap="square" lIns="50800" tIns="50800" rIns="50800" bIns="50800" rtlCol="0" anchor="ctr"/>
          <a:lstStyle/>
          <a:p>
            <a:pPr indent="0" marL="0">
              <a:buNone/>
            </a:pPr>
            <a:r>
              <a:rPr lang="en-US" sz="1200" dirty="0">
                <a:solidFill>
                  <a:schemeClr val="tx1"/>
                </a:solidFill>
              </a:rPr>
              <a:t>Run these in a MariaDB command-line client or an SQL editor connected to your MariaDB server.</a:t>
            </a:r>
            <a:endParaRPr lang="en-US" sz="12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Update, Delete, CRUD and Best Practice</a:t>
            </a:r>
            <a:endParaRPr lang="en-US" sz="3000" dirty="0"/>
          </a:p>
        </p:txBody>
      </p:sp>
      <p:sp>
        <p:nvSpPr>
          <p:cNvPr id="3" name="Text 1"/>
          <p:cNvSpPr txBox="1"/>
          <p:nvPr/>
        </p:nvSpPr>
        <p:spPr>
          <a:xfrm>
            <a:off x="457200" y="1051560"/>
            <a:ext cx="4023360" cy="777240"/>
          </a:xfrm>
          <a:prstGeom prst="rect">
            <a:avLst/>
          </a:prstGeom>
          <a:solidFill>
            <a:schemeClr val="bg2"/>
          </a:solidFill>
          <a:ln/>
        </p:spPr>
        <p:txBody>
          <a:bodyPr wrap="square" lIns="101600" tIns="101600" rIns="101600" bIns="10160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UPDATE Student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SET Department = 'AIDS'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WHERE StudentID = 101;</a:t>
            </a:r>
            <a:endParaRPr lang="en-US" sz="1200" dirty="0"/>
          </a:p>
        </p:txBody>
      </p:sp>
      <p:sp>
        <p:nvSpPr>
          <p:cNvPr id="4" name="Text 2"/>
          <p:cNvSpPr txBox="1"/>
          <p:nvPr/>
        </p:nvSpPr>
        <p:spPr>
          <a:xfrm>
            <a:off x="457200" y="1874520"/>
            <a:ext cx="4023360" cy="1005840"/>
          </a:xfrm>
          <a:prstGeom prst="rect">
            <a:avLst/>
          </a:prstGeom>
          <a:noFill/>
          <a:ln/>
        </p:spPr>
        <p:txBody>
          <a:bodyPr wrap="square" lIns="50800" tIns="50800" rIns="50800" bIns="50800" rtlCol="0" anchor="t"/>
          <a:lstStyle/>
          <a:p>
            <a:pPr marL="190500" indent="-190500">
              <a:spcAft>
                <a:spcPts val="300"/>
              </a:spcAft>
              <a:buSzPct val="100000"/>
              <a:buChar char="•"/>
            </a:pPr>
            <a:r>
              <a:rPr lang="en-US" sz="1300" dirty="0">
                <a:solidFill>
                  <a:schemeClr val="tx1"/>
                </a:solidFill>
              </a:rPr>
              <a:t>Changes Rahul's department to AIDS</a:t>
            </a:r>
            <a:endParaRPr lang="en-US" sz="1300" dirty="0"/>
          </a:p>
          <a:p>
            <a:pPr marL="190500" indent="-190500">
              <a:spcAft>
                <a:spcPts val="300"/>
              </a:spcAft>
              <a:buSzPct val="100000"/>
              <a:buChar char="•"/>
            </a:pPr>
            <a:r>
              <a:rPr lang="en-US" sz="1300" dirty="0">
                <a:solidFill>
                  <a:schemeClr val="tx1"/>
                </a:solidFill>
              </a:rPr>
              <a:t>Why WHERE? Without it, every row's department would change</a:t>
            </a:r>
            <a:endParaRPr lang="en-US" sz="1300" dirty="0"/>
          </a:p>
        </p:txBody>
      </p:sp>
      <p:sp>
        <p:nvSpPr>
          <p:cNvPr id="5" name="Text 3"/>
          <p:cNvSpPr txBox="1"/>
          <p:nvPr/>
        </p:nvSpPr>
        <p:spPr>
          <a:xfrm>
            <a:off x="4663440" y="1051560"/>
            <a:ext cx="4023360" cy="777240"/>
          </a:xfrm>
          <a:prstGeom prst="rect">
            <a:avLst/>
          </a:prstGeom>
          <a:solidFill>
            <a:schemeClr val="bg2"/>
          </a:solidFill>
          <a:ln/>
        </p:spPr>
        <p:txBody>
          <a:bodyPr wrap="square" lIns="101600" tIns="101600" rIns="101600" bIns="10160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DELETE FROM Student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WHERE StudentID = 101;</a:t>
            </a:r>
            <a:endParaRPr lang="en-US" sz="1200" dirty="0"/>
          </a:p>
        </p:txBody>
      </p:sp>
      <p:sp>
        <p:nvSpPr>
          <p:cNvPr id="6" name="Text 4"/>
          <p:cNvSpPr txBox="1"/>
          <p:nvPr/>
        </p:nvSpPr>
        <p:spPr>
          <a:xfrm>
            <a:off x="4663440" y="1874520"/>
            <a:ext cx="4023360" cy="1005840"/>
          </a:xfrm>
          <a:prstGeom prst="rect">
            <a:avLst/>
          </a:prstGeom>
          <a:noFill/>
          <a:ln/>
        </p:spPr>
        <p:txBody>
          <a:bodyPr wrap="square" lIns="50800" tIns="50800" rIns="50800" bIns="50800" rtlCol="0" anchor="t"/>
          <a:lstStyle/>
          <a:p>
            <a:pPr marL="190500" indent="-190500">
              <a:spcAft>
                <a:spcPts val="300"/>
              </a:spcAft>
              <a:buSzPct val="100000"/>
              <a:buChar char="•"/>
            </a:pPr>
            <a:r>
              <a:rPr lang="en-US" sz="1300" dirty="0">
                <a:solidFill>
                  <a:schemeClr val="tx1"/>
                </a:solidFill>
              </a:rPr>
              <a:t>Removes the row whose student ID is 101</a:t>
            </a:r>
            <a:endParaRPr lang="en-US" sz="1300" dirty="0"/>
          </a:p>
          <a:p>
            <a:pPr marL="190500" indent="-190500">
              <a:spcAft>
                <a:spcPts val="300"/>
              </a:spcAft>
              <a:buSzPct val="100000"/>
              <a:buChar char="•"/>
            </a:pPr>
            <a:r>
              <a:rPr lang="en-US" sz="1300" dirty="0">
                <a:solidFill>
                  <a:schemeClr val="tx1"/>
                </a:solidFill>
              </a:rPr>
              <a:t>The record is deleted, not merely hidden</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3657600" cy="914400"/>
        </p:xfrm>
        <a:graphic>
          <a:graphicData uri="http://schemas.openxmlformats.org/drawingml/2006/table">
            <a:tbl>
              <a:tblPr/>
              <a:tblGrid>
                <a:gridCol w="640080"/>
                <a:gridCol w="1005840"/>
                <a:gridCol w="2011680"/>
              </a:tblGrid>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Letter</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Operation</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SQL example</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r>
              <a:tr h="27432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Create</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INSERT adds a record</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Read</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SELECT retrieves records</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U</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Update</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UPDATE modifies records</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Delete</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DELETE removes records</a:t>
                      </a:r>
                      <a:endParaRPr lang="en-US" sz="12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bl>
          </a:graphicData>
        </a:graphic>
      </p:graphicFrame>
      <p:sp>
        <p:nvSpPr>
          <p:cNvPr id="8" name="Text 5"/>
          <p:cNvSpPr/>
          <p:nvPr/>
        </p:nvSpPr>
        <p:spPr>
          <a:xfrm>
            <a:off x="4389120" y="2971800"/>
            <a:ext cx="4297680" cy="178308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Best practice</a:t>
            </a:r>
            <a:endParaRPr lang="en-US" sz="1400" dirty="0"/>
          </a:p>
          <a:p>
            <a:pPr marL="190500" indent="-190500">
              <a:spcAft>
                <a:spcPts val="200"/>
              </a:spcAft>
              <a:buSzPct val="100000"/>
              <a:buChar char="•"/>
            </a:pPr>
            <a:r>
              <a:rPr lang="en-US" sz="1100" dirty="0">
                <a:solidFill>
                  <a:schemeClr val="tx1"/>
                </a:solidFill>
              </a:rPr>
              <a:t>Before an update or delete, run a SELECT with the same WHERE condition to verify the rows</a:t>
            </a:r>
            <a:endParaRPr lang="en-US" sz="1400" dirty="0"/>
          </a:p>
          <a:p>
            <a:pPr marL="190500" indent="-190500">
              <a:spcAft>
                <a:spcPts val="200"/>
              </a:spcAft>
              <a:buSzPct val="100000"/>
              <a:buChar char="•"/>
            </a:pPr>
            <a:r>
              <a:rPr lang="en-US" sz="1100" dirty="0">
                <a:solidFill>
                  <a:schemeClr val="tx1"/>
                </a:solidFill>
              </a:rPr>
              <a:t>For multi-step changes, use transactions when the engine supports them</a:t>
            </a:r>
            <a:endParaRPr lang="en-US" sz="1400" dirty="0"/>
          </a:p>
          <a:p>
            <a:pPr marL="190500" indent="-190500">
              <a:spcAft>
                <a:spcPts val="200"/>
              </a:spcAft>
              <a:buSzPct val="100000"/>
              <a:buChar char="•"/>
            </a:pPr>
            <a:r>
              <a:rPr lang="en-US" sz="1100" dirty="0">
                <a:solidFill>
                  <a:schemeClr val="tx1"/>
                </a:solidFill>
              </a:rPr>
              <a:t>“Create” in CRUD means creating a data record; CREATE TABLE creates the table structure</a:t>
            </a:r>
            <a:endParaRPr lang="en-US" sz="14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Joins: Connecting Data from Multiple Tables</a:t>
            </a:r>
            <a:endParaRPr lang="en-US" sz="3000" dirty="0"/>
          </a:p>
        </p:txBody>
      </p:sp>
      <p:sp>
        <p:nvSpPr>
          <p:cNvPr id="3" name="Text 1"/>
          <p:cNvSpPr txBox="1"/>
          <p:nvPr/>
        </p:nvSpPr>
        <p:spPr>
          <a:xfrm>
            <a:off x="457200" y="1097280"/>
            <a:ext cx="8229600" cy="1280160"/>
          </a:xfrm>
          <a:prstGeom prst="rect">
            <a:avLst/>
          </a:prstGeom>
          <a:noFill/>
          <a:ln/>
        </p:spPr>
        <p:txBody>
          <a:bodyPr wrap="square" lIns="50800" tIns="50800" rIns="50800" bIns="50800" rtlCol="0" anchor="t"/>
          <a:lstStyle/>
          <a:p>
            <a:pPr marL="190500" indent="-190500">
              <a:spcAft>
                <a:spcPts val="500"/>
              </a:spcAft>
              <a:buSzPct val="100000"/>
              <a:buChar char="•"/>
            </a:pPr>
            <a:r>
              <a:rPr lang="en-US" sz="1600" dirty="0">
                <a:solidFill>
                  <a:schemeClr val="tx1"/>
                </a:solidFill>
              </a:rPr>
              <a:t>A JOIN combines related information from two or more tables</a:t>
            </a:r>
            <a:endParaRPr lang="en-US" sz="1600" dirty="0"/>
          </a:p>
          <a:p>
            <a:pPr marL="190500" indent="-190500">
              <a:spcAft>
                <a:spcPts val="500"/>
              </a:spcAft>
              <a:buSzPct val="100000"/>
              <a:buChar char="•"/>
            </a:pPr>
            <a:r>
              <a:rPr lang="en-US" sz="1600" dirty="0">
                <a:solidFill>
                  <a:schemeClr val="tx1"/>
                </a:solidFill>
              </a:rPr>
              <a:t>Student stores a department ID, while Department stores the department name</a:t>
            </a:r>
            <a:endParaRPr lang="en-US" sz="1600" dirty="0"/>
          </a:p>
          <a:p>
            <a:pPr marL="190500" indent="-190500">
              <a:spcAft>
                <a:spcPts val="500"/>
              </a:spcAft>
              <a:buSzPct val="100000"/>
              <a:buChar char="•"/>
            </a:pPr>
            <a:r>
              <a:rPr lang="en-US" sz="1600" dirty="0">
                <a:solidFill>
                  <a:schemeClr val="tx1"/>
                </a:solidFill>
              </a:rPr>
              <a:t>To display each student's name with the department name, use a JOIN</a:t>
            </a:r>
            <a:endParaRPr lang="en-US" sz="1600" dirty="0"/>
          </a:p>
        </p:txBody>
      </p:sp>
      <p:sp>
        <p:nvSpPr>
          <p:cNvPr id="4" name="Text 2"/>
          <p:cNvSpPr txBox="1"/>
          <p:nvPr/>
        </p:nvSpPr>
        <p:spPr>
          <a:xfrm>
            <a:off x="457200" y="2514600"/>
            <a:ext cx="3657600" cy="274320"/>
          </a:xfrm>
          <a:prstGeom prst="rect">
            <a:avLst/>
          </a:prstGeom>
          <a:noFill/>
          <a:ln/>
        </p:spPr>
        <p:txBody>
          <a:bodyPr wrap="square" lIns="25400" tIns="25400" rIns="25400" bIns="25400" rtlCol="0" anchor="ctr"/>
          <a:lstStyle/>
          <a:p>
            <a:pPr indent="0" marL="0">
              <a:buNone/>
            </a:pPr>
            <a:r>
              <a:rPr lang="en-US" sz="1400" b="1" dirty="0">
                <a:solidFill>
                  <a:schemeClr val="tx2"/>
                </a:solidFill>
              </a:rPr>
              <a:t>Student</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3657600" cy="914400"/>
        </p:xfrm>
        <a:graphic>
          <a:graphicData uri="http://schemas.openxmlformats.org/drawingml/2006/table">
            <a:tbl>
              <a:tblPr/>
              <a:tblGrid>
                <a:gridCol w="1188720"/>
                <a:gridCol w="1463040"/>
                <a:gridCol w="1005840"/>
              </a:tblGrid>
              <a:tr h="3291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StudentID</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Name</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DeptID</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r>
              <a:tr h="3291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101</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Rahul</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3291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102</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Priya</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3291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103</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Arjun</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120640" y="2514600"/>
            <a:ext cx="3657600" cy="274320"/>
          </a:xfrm>
          <a:prstGeom prst="rect">
            <a:avLst/>
          </a:prstGeom>
          <a:noFill/>
          <a:ln/>
        </p:spPr>
        <p:txBody>
          <a:bodyPr wrap="square" lIns="25400" tIns="25400" rIns="25400" bIns="25400" rtlCol="0" anchor="ctr"/>
          <a:lstStyle/>
          <a:p>
            <a:pPr indent="0" marL="0">
              <a:buNone/>
            </a:pPr>
            <a:r>
              <a:rPr lang="en-US" sz="1400" b="1" dirty="0">
                <a:solidFill>
                  <a:schemeClr val="tx2"/>
                </a:solidFill>
              </a:rPr>
              <a:t>Department</a:t>
            </a:r>
            <a:endParaRPr lang="en-US" sz="1400" dirty="0"/>
          </a:p>
        </p:txBody>
      </p:sp>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5120640" y="2816352"/>
          <a:ext cx="2926080" cy="914400"/>
        </p:xfrm>
        <a:graphic>
          <a:graphicData uri="http://schemas.openxmlformats.org/drawingml/2006/table">
            <a:tbl>
              <a:tblPr/>
              <a:tblGrid>
                <a:gridCol w="1097280"/>
                <a:gridCol w="1828800"/>
              </a:tblGrid>
              <a:tr h="3291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DeptID</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DeptName</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r>
              <a:tr h="3291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CSE</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3291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IT</a:t>
                      </a:r>
                      <a:endParaRPr lang="en-US" sz="16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Join Example, INNER JOIN and Common Mistakes</a:t>
            </a:r>
            <a:endParaRPr lang="en-US" sz="3000" dirty="0"/>
          </a:p>
        </p:txBody>
      </p:sp>
      <p:sp>
        <p:nvSpPr>
          <p:cNvPr id="3" name="Text 1"/>
          <p:cNvSpPr txBox="1"/>
          <p:nvPr/>
        </p:nvSpPr>
        <p:spPr>
          <a:xfrm>
            <a:off x="457200" y="1051560"/>
            <a:ext cx="4754880" cy="2514600"/>
          </a:xfrm>
          <a:prstGeom prst="rect">
            <a:avLst/>
          </a:prstGeom>
          <a:solidFill>
            <a:schemeClr val="bg2"/>
          </a:solidFill>
          <a:ln/>
        </p:spPr>
        <p:txBody>
          <a:bodyPr wrap="square" lIns="101600" tIns="101600" rIns="101600" bIns="10160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CREATE TABLE Department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DeptID INT PRIMARY KEY,</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DeptName VARCHAR(20)</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INSERT INTO Department VALUES (1, 'CSE');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INSERT INTO Department VALUES (2, 'IT');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SELECT Student.Name, Department.DeptName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FROM Student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JOIN Department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ON Student.DeptID = Department.DeptID;</a:t>
            </a:r>
            <a:endParaRPr lang="en-US" sz="1200" dirty="0"/>
          </a:p>
        </p:txBody>
      </p:sp>
      <p:sp>
        <p:nvSpPr>
          <p:cNvPr id="4" name="Text 2"/>
          <p:cNvSpPr txBox="1"/>
          <p:nvPr/>
        </p:nvSpPr>
        <p:spPr>
          <a:xfrm>
            <a:off x="5486400" y="1051560"/>
            <a:ext cx="3017520" cy="274320"/>
          </a:xfrm>
          <a:prstGeom prst="rect">
            <a:avLst/>
          </a:prstGeom>
          <a:noFill/>
          <a:ln/>
        </p:spPr>
        <p:txBody>
          <a:bodyPr wrap="square" lIns="25400" tIns="25400" rIns="25400" bIns="25400" rtlCol="0" anchor="ctr"/>
          <a:lstStyle/>
          <a:p>
            <a:pPr indent="0" marL="0">
              <a:buNone/>
            </a:pPr>
            <a:r>
              <a:rPr lang="en-US" sz="1400" b="1" dirty="0">
                <a:solidFill>
                  <a:schemeClr val="tx2"/>
                </a:solidFill>
              </a:rPr>
              <a:t>Expected result</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0" y="1325880"/>
          <a:ext cx="3017520" cy="914400"/>
        </p:xfrm>
        <a:graphic>
          <a:graphicData uri="http://schemas.openxmlformats.org/drawingml/2006/table">
            <a:tbl>
              <a:tblPr/>
              <a:tblGrid>
                <a:gridCol w="1280160"/>
                <a:gridCol w="1737360"/>
              </a:tblGrid>
              <a:tr h="2743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DeptName</a:t>
                      </a:r>
                      <a:endParaRPr lang="en-US" sz="13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003545"/>
                    </a:solidFill>
                  </a:tcPr>
                </a:tc>
              </a:tr>
              <a:tr h="27432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Rahul</a:t>
                      </a:r>
                      <a:endParaRPr lang="en-US" sz="13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CSE</a:t>
                      </a:r>
                      <a:endParaRPr lang="en-US" sz="13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27432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Priya</a:t>
                      </a:r>
                      <a:endParaRPr lang="en-US" sz="13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IT</a:t>
                      </a:r>
                      <a:endParaRPr lang="en-US" sz="13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r h="27432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Arjun</a:t>
                      </a:r>
                      <a:endParaRPr lang="en-US" sz="13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CSE</a:t>
                      </a:r>
                      <a:endParaRPr lang="en-US" sz="1300" dirty="0">
                        <a:latin typeface="Calibri" charset="0"/>
                        <a:ea typeface="Calibri" charset="0"/>
                        <a:cs typeface="Calibri" charset="0"/>
                      </a:endParaRPr>
                    </a:p>
                  </a:txBody>
                  <a:tcPr marL="91440" marR="91440" marT="45720" marB="45720" anchor="ctr">
                    <a:lnL w="9525" cap="flat" cmpd="sng" algn="ctr">
                      <a:solidFill>
                        <a:srgbClr val="B8C4CA"/>
                      </a:solidFill>
                      <a:prstDash val="solid"/>
                      <a:round/>
                      <a:headEnd type="none" w="med" len="med"/>
                      <a:tailEnd type="none" w="med" len="med"/>
                    </a:lnL>
                    <a:lnR w="9525" cap="flat" cmpd="sng" algn="ctr">
                      <a:solidFill>
                        <a:srgbClr val="B8C4CA"/>
                      </a:solidFill>
                      <a:prstDash val="solid"/>
                      <a:round/>
                      <a:headEnd type="none" w="med" len="med"/>
                      <a:tailEnd type="none" w="med" len="med"/>
                    </a:lnR>
                    <a:lnT w="9525" cap="flat" cmpd="sng" algn="ctr">
                      <a:solidFill>
                        <a:srgbClr val="B8C4CA"/>
                      </a:solidFill>
                      <a:prstDash val="solid"/>
                      <a:round/>
                      <a:headEnd type="none" w="med" len="med"/>
                      <a:tailEnd type="none" w="med" len="med"/>
                    </a:lnT>
                    <a:lnB w="9525" cap="flat" cmpd="sng" algn="ctr">
                      <a:solidFill>
                        <a:srgbClr val="B8C4C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0" y="2651760"/>
            <a:ext cx="3200400" cy="1737360"/>
          </a:xfrm>
          <a:prstGeom prst="rect">
            <a:avLst/>
          </a:prstGeom>
          <a:noFill/>
          <a:ln/>
        </p:spPr>
        <p:txBody>
          <a:bodyPr wrap="square" lIns="50800" tIns="50800" rIns="50800" bIns="50800" rtlCol="0" anchor="t"/>
          <a:lstStyle/>
          <a:p>
            <a:pPr marL="190500" indent="-190500">
              <a:spcAft>
                <a:spcPts val="300"/>
              </a:spcAft>
              <a:buSzPct val="100000"/>
              <a:buChar char="•"/>
            </a:pPr>
            <a:r>
              <a:rPr lang="en-US" sz="1100" b="1" dirty="0">
                <a:solidFill>
                  <a:schemeClr val="tx1"/>
                </a:solidFill>
              </a:rPr>
              <a:t>INNER JOIN: </a:t>
            </a:r>
            <a:pPr indent="0" marL="0">
              <a:spcAft>
                <a:spcPts val="300"/>
              </a:spcAft>
              <a:buNone/>
            </a:pPr>
            <a:r>
              <a:rPr lang="en-US" sz="1100" dirty="0">
                <a:solidFill>
                  <a:schemeClr val="tx1"/>
                </a:solidFill>
              </a:rPr>
              <a:t>JOIN alone means INNER JOIN; returns rows with matching values in both tables, so a student with no matching department will not appear</a:t>
            </a:r>
            <a:endParaRPr lang="en-US" sz="1100" dirty="0"/>
          </a:p>
          <a:p>
            <a:pPr marL="190500" indent="-190500">
              <a:spcAft>
                <a:spcPts val="300"/>
              </a:spcAft>
              <a:buSzPct val="100000"/>
              <a:buChar char="•"/>
            </a:pPr>
            <a:r>
              <a:rPr lang="en-US" sz="1100" b="1" dirty="0">
                <a:solidFill>
                  <a:schemeClr val="tx1"/>
                </a:solidFill>
              </a:rPr>
              <a:t>Common mistake: </a:t>
            </a:r>
            <a:pPr indent="0" marL="0">
              <a:spcAft>
                <a:spcPts val="300"/>
              </a:spcAft>
              <a:buNone/>
            </a:pPr>
            <a:r>
              <a:rPr lang="en-US" sz="1100" dirty="0">
                <a:solidFill>
                  <a:schemeClr val="tx1"/>
                </a:solidFill>
              </a:rPr>
              <a:t>a wrong join condition may give missing records or a Cartesian product (many rows combined with many others)</a:t>
            </a:r>
            <a:endParaRPr lang="en-US" sz="1100" dirty="0"/>
          </a:p>
        </p:txBody>
      </p:sp>
      <p:sp>
        <p:nvSpPr>
          <p:cNvPr id="7" name="Text 4"/>
          <p:cNvSpPr txBox="1"/>
          <p:nvPr/>
        </p:nvSpPr>
        <p:spPr>
          <a:xfrm>
            <a:off x="457200" y="3703320"/>
            <a:ext cx="8229600" cy="822960"/>
          </a:xfrm>
          <a:prstGeom prst="rect">
            <a:avLst/>
          </a:prstGeom>
          <a:noFill/>
          <a:ln/>
        </p:spPr>
        <p:txBody>
          <a:bodyPr wrap="square" lIns="50800" tIns="50800" rIns="50800" bIns="50800" rtlCol="0" anchor="ctr"/>
          <a:lstStyle/>
          <a:p>
            <a:pPr indent="0" marL="0">
              <a:buNone/>
            </a:pPr>
            <a:r>
              <a:rPr lang="en-US" sz="1200" dirty="0">
                <a:solidFill>
                  <a:schemeClr val="tx1"/>
                </a:solidFill>
              </a:rPr>
              <a:t>Correction to the original slide: it compared Student.Department (text) with Department.DeptID (integer), which do not match. The corrected example adds DeptID to Student and joins it to Department's primary key.</a:t>
            </a:r>
            <a:endParaRPr lang="en-US" sz="12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Performance Considerations and EXPLAIN</a:t>
            </a:r>
            <a:endParaRPr lang="en-US" sz="3000" dirty="0"/>
          </a:p>
        </p:txBody>
      </p:sp>
      <p:sp>
        <p:nvSpPr>
          <p:cNvPr id="3" name="Text 1"/>
          <p:cNvSpPr txBox="1"/>
          <p:nvPr/>
        </p:nvSpPr>
        <p:spPr>
          <a:xfrm>
            <a:off x="457200" y="1051560"/>
            <a:ext cx="5212080" cy="2834640"/>
          </a:xfrm>
          <a:prstGeom prst="rect">
            <a:avLst/>
          </a:prstGeom>
          <a:noFill/>
          <a:ln/>
        </p:spPr>
        <p:txBody>
          <a:bodyPr wrap="square" lIns="50800" tIns="50800" rIns="50800" bIns="50800" rtlCol="0" anchor="t"/>
          <a:lstStyle/>
          <a:p>
            <a:pPr indent="0" marL="0">
              <a:spcAft>
                <a:spcPts val="400"/>
              </a:spcAft>
              <a:buNone/>
            </a:pPr>
            <a:r>
              <a:rPr lang="en-US" sz="1300" b="1" dirty="0">
                <a:solidFill>
                  <a:schemeClr val="tx1"/>
                </a:solidFill>
              </a:rPr>
              <a:t>Performance </a:t>
            </a:r>
            <a:pPr indent="0" marL="0">
              <a:spcAft>
                <a:spcPts val="400"/>
              </a:spcAft>
              <a:buNone/>
            </a:pPr>
            <a:r>
              <a:rPr lang="en-US" sz="1300" dirty="0">
                <a:solidFill>
                  <a:schemeClr val="tx1"/>
                </a:solidFill>
              </a:rPr>
              <a:t>means how efficiently MariaDB executes queries and handles its workload. Five major factors:</a:t>
            </a:r>
            <a:endParaRPr lang="en-US" sz="1300" dirty="0"/>
          </a:p>
          <a:p>
            <a:pPr indent="0" marL="0">
              <a:spcAft>
                <a:spcPts val="400"/>
              </a:spcAft>
              <a:buNone/>
            </a:pPr>
            <a:r>
              <a:rPr lang="en-US" sz="1300" b="1" dirty="0">
                <a:solidFill>
                  <a:schemeClr val="tx1"/>
                </a:solidFill>
              </a:rPr>
              <a:t>1. Indexing: </a:t>
            </a:r>
            <a:pPr indent="0" marL="0">
              <a:spcAft>
                <a:spcPts val="400"/>
              </a:spcAft>
              <a:buNone/>
            </a:pPr>
            <a:r>
              <a:rPr lang="en-US" sz="1300" dirty="0">
                <a:solidFill>
                  <a:schemeClr val="tx1"/>
                </a:solidFill>
              </a:rPr>
              <a:t>helps find rows without scanning the whole table; choose indexes based on actual queries</a:t>
            </a:r>
            <a:endParaRPr lang="en-US" sz="1300" dirty="0"/>
          </a:p>
          <a:p>
            <a:pPr indent="0" marL="0">
              <a:spcAft>
                <a:spcPts val="400"/>
              </a:spcAft>
              <a:buNone/>
            </a:pPr>
            <a:r>
              <a:rPr lang="en-US" sz="1300" b="1" dirty="0">
                <a:solidFill>
                  <a:schemeClr val="tx1"/>
                </a:solidFill>
              </a:rPr>
              <a:t>2. Query complexity: </a:t>
            </a:r>
            <a:pPr indent="0" marL="0">
              <a:spcAft>
                <a:spcPts val="400"/>
              </a:spcAft>
              <a:buNone/>
            </a:pPr>
            <a:r>
              <a:rPr lang="en-US" sz="1300" dirty="0">
                <a:solidFill>
                  <a:schemeClr val="tx1"/>
                </a:solidFill>
              </a:rPr>
              <a:t>avoid unnecessary columns, use suitable filters and joins, inspect slow queries</a:t>
            </a:r>
            <a:endParaRPr lang="en-US" sz="1300" dirty="0"/>
          </a:p>
          <a:p>
            <a:pPr indent="0" marL="0">
              <a:spcAft>
                <a:spcPts val="400"/>
              </a:spcAft>
              <a:buNone/>
            </a:pPr>
            <a:r>
              <a:rPr lang="en-US" sz="1300" b="1" dirty="0">
                <a:solidFill>
                  <a:schemeClr val="tx1"/>
                </a:solidFill>
              </a:rPr>
              <a:t>3. Table size and partitioning: </a:t>
            </a:r>
            <a:pPr indent="0" marL="0">
              <a:spcAft>
                <a:spcPts val="400"/>
              </a:spcAft>
              <a:buNone/>
            </a:pPr>
            <a:r>
              <a:rPr lang="en-US" sz="1300" dirty="0">
                <a:solidFill>
                  <a:schemeClr val="tx1"/>
                </a:solidFill>
              </a:rPr>
              <a:t>large tables need extra design; partitioning helps particular workloads but not every query</a:t>
            </a:r>
            <a:endParaRPr lang="en-US" sz="1300" dirty="0"/>
          </a:p>
          <a:p>
            <a:pPr indent="0" marL="0">
              <a:spcAft>
                <a:spcPts val="400"/>
              </a:spcAft>
              <a:buNone/>
            </a:pPr>
            <a:r>
              <a:rPr lang="en-US" sz="1300" b="1" dirty="0">
                <a:solidFill>
                  <a:schemeClr val="tx1"/>
                </a:solidFill>
              </a:rPr>
              <a:t>4. Hardware resources: </a:t>
            </a:r>
            <a:pPr indent="0" marL="0">
              <a:spcAft>
                <a:spcPts val="400"/>
              </a:spcAft>
              <a:buNone/>
            </a:pPr>
            <a:r>
              <a:rPr lang="en-US" sz="1300" dirty="0">
                <a:solidFill>
                  <a:schemeClr val="tx1"/>
                </a:solidFill>
              </a:rPr>
              <a:t>CPU, memory, storage speed, disk space</a:t>
            </a:r>
            <a:endParaRPr lang="en-US" sz="1300" dirty="0"/>
          </a:p>
          <a:p>
            <a:pPr indent="0" marL="0">
              <a:spcAft>
                <a:spcPts val="400"/>
              </a:spcAft>
              <a:buNone/>
            </a:pPr>
            <a:r>
              <a:rPr lang="en-US" sz="1300" b="1" dirty="0">
                <a:solidFill>
                  <a:schemeClr val="tx1"/>
                </a:solidFill>
              </a:rPr>
              <a:t>5. Network latency: </a:t>
            </a:r>
            <a:pPr indent="0" marL="0">
              <a:spcAft>
                <a:spcPts val="400"/>
              </a:spcAft>
              <a:buNone/>
            </a:pPr>
            <a:r>
              <a:rPr lang="en-US" sz="1300" dirty="0">
                <a:solidFill>
                  <a:schemeClr val="tx1"/>
                </a:solidFill>
              </a:rPr>
              <a:t>slow communication between application and database, or between replicated servers, increases response time</a:t>
            </a:r>
            <a:endParaRPr lang="en-US" sz="1300" dirty="0"/>
          </a:p>
        </p:txBody>
      </p:sp>
      <p:pic>
        <p:nvPicPr>
          <p:cNvPr id="4" name="Image 0" descr="Performance configuration chart">    </p:cNvPr>
          <p:cNvPicPr>
            <a:picLocks noChangeAspect="1"/>
          </p:cNvPicPr>
          <p:nvPr/>
        </p:nvPicPr>
        <p:blipFill>
          <a:blip r:embed="rId1"/>
          <a:stretch>
            <a:fillRect/>
          </a:stretch>
        </p:blipFill>
        <p:spPr>
          <a:xfrm>
            <a:off x="5878244" y="1051560"/>
            <a:ext cx="2782471" cy="2011680"/>
          </a:xfrm>
          <a:prstGeom prst="rect">
            <a:avLst/>
          </a:prstGeom>
        </p:spPr>
      </p:pic>
      <p:sp>
        <p:nvSpPr>
          <p:cNvPr id="5" name="Text 2"/>
          <p:cNvSpPr txBox="1"/>
          <p:nvPr/>
        </p:nvSpPr>
        <p:spPr>
          <a:xfrm>
            <a:off x="5852160" y="3154680"/>
            <a:ext cx="2834640" cy="731520"/>
          </a:xfrm>
          <a:prstGeom prst="rect">
            <a:avLst/>
          </a:prstGeom>
          <a:solidFill>
            <a:schemeClr val="bg2"/>
          </a:solidFill>
          <a:ln/>
        </p:spPr>
        <p:txBody>
          <a:bodyPr wrap="square" lIns="101600" tIns="101600" rIns="101600" bIns="10160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EXPLAIN</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SELECT * FROM Student</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WHERE StudentID = 101;</a:t>
            </a:r>
            <a:endParaRPr lang="en-US" sz="1000" dirty="0"/>
          </a:p>
        </p:txBody>
      </p:sp>
      <p:sp>
        <p:nvSpPr>
          <p:cNvPr id="6" name="Text 3"/>
          <p:cNvSpPr txBox="1"/>
          <p:nvPr/>
        </p:nvSpPr>
        <p:spPr>
          <a:xfrm>
            <a:off x="457200" y="3977640"/>
            <a:ext cx="8229600" cy="822960"/>
          </a:xfrm>
          <a:prstGeom prst="rect">
            <a:avLst/>
          </a:prstGeom>
          <a:noFill/>
          <a:ln/>
        </p:spPr>
        <p:txBody>
          <a:bodyPr wrap="square" lIns="50800" tIns="50800" rIns="50800" bIns="50800" rtlCol="0" anchor="t"/>
          <a:lstStyle/>
          <a:p>
            <a:pPr indent="0" marL="0">
              <a:spcAft>
                <a:spcPts val="300"/>
              </a:spcAft>
              <a:buNone/>
            </a:pPr>
            <a:r>
              <a:rPr lang="en-US" sz="1300" b="1" dirty="0">
                <a:solidFill>
                  <a:schemeClr val="tx1"/>
                </a:solidFill>
              </a:rPr>
              <a:t>EXPLAIN: </a:t>
            </a:r>
            <a:pPr indent="0" marL="0">
              <a:spcAft>
                <a:spcPts val="300"/>
              </a:spcAft>
              <a:buNone/>
            </a:pPr>
            <a:r>
              <a:rPr lang="en-US" sz="1300" dirty="0">
                <a:solidFill>
                  <a:schemeClr val="tx1"/>
                </a:solidFill>
              </a:rPr>
              <a:t>shows how MariaDB plans to execute a query, including the table access method and indexes the optimizer expects to use</a:t>
            </a:r>
            <a:endParaRPr lang="en-US" sz="1300" dirty="0"/>
          </a:p>
          <a:p>
            <a:pPr indent="0" marL="0">
              <a:spcAft>
                <a:spcPts val="300"/>
              </a:spcAft>
              <a:buNone/>
            </a:pPr>
            <a:r>
              <a:rPr lang="en-US" sz="1300" b="1" dirty="0">
                <a:solidFill>
                  <a:schemeClr val="tx1"/>
                </a:solidFill>
              </a:rPr>
              <a:t>Beginner rule: </a:t>
            </a:r>
            <a:pPr indent="0" marL="0">
              <a:spcAft>
                <a:spcPts val="300"/>
              </a:spcAft>
              <a:buNone/>
            </a:pPr>
            <a:r>
              <a:rPr lang="en-US" sz="1300" dirty="0">
                <a:solidFill>
                  <a:schemeClr val="tx1"/>
                </a:solidFill>
              </a:rPr>
              <a:t>before optimizing a slow query, examine its execution plan. Do not add indexes randomly.</a:t>
            </a:r>
            <a:endParaRPr lang="en-US" sz="13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Future Trends</a:t>
            </a:r>
            <a:endParaRPr lang="en-US" sz="3000" dirty="0"/>
          </a:p>
        </p:txBody>
      </p:sp>
      <p:sp>
        <p:nvSpPr>
          <p:cNvPr id="3" name="Text 1"/>
          <p:cNvSpPr/>
          <p:nvPr/>
        </p:nvSpPr>
        <p:spPr>
          <a:xfrm>
            <a:off x="457200" y="1051560"/>
            <a:ext cx="2651760" cy="219456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Cloud databases</a:t>
            </a:r>
            <a:endParaRPr lang="en-US" sz="1400" dirty="0"/>
          </a:p>
          <a:p>
            <a:pPr marL="190500" indent="-190500">
              <a:spcAft>
                <a:spcPts val="300"/>
              </a:spcAft>
              <a:buSzPct val="100000"/>
              <a:buChar char="•"/>
            </a:pPr>
            <a:r>
              <a:rPr lang="en-US" sz="1100" dirty="0">
                <a:solidFill>
                  <a:schemeClr val="tx1"/>
                </a:solidFill>
              </a:rPr>
              <a:t>Managed services where the provider handles some maintenance, backups, patches and scaling</a:t>
            </a:r>
            <a:endParaRPr lang="en-US" sz="1400" dirty="0"/>
          </a:p>
          <a:p>
            <a:pPr marL="190500" indent="-190500">
              <a:spcAft>
                <a:spcPts val="300"/>
              </a:spcAft>
              <a:buSzPct val="100000"/>
              <a:buChar char="•"/>
            </a:pPr>
            <a:r>
              <a:rPr lang="en-US" sz="1100" dirty="0">
                <a:solidFill>
                  <a:schemeClr val="tx1"/>
                </a:solidFill>
              </a:rPr>
              <a:t>MariaDB can be deployed in cloud environments; services depend on the provider</a:t>
            </a:r>
            <a:endParaRPr lang="en-US" sz="1400" dirty="0"/>
          </a:p>
        </p:txBody>
      </p:sp>
      <p:sp>
        <p:nvSpPr>
          <p:cNvPr id="4" name="Text 2"/>
          <p:cNvSpPr/>
          <p:nvPr/>
        </p:nvSpPr>
        <p:spPr>
          <a:xfrm>
            <a:off x="3246120" y="1051560"/>
            <a:ext cx="2651760" cy="219456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AI integration</a:t>
            </a:r>
            <a:endParaRPr lang="en-US" sz="1400" dirty="0"/>
          </a:p>
          <a:p>
            <a:pPr marL="190500" indent="-190500">
              <a:spcAft>
                <a:spcPts val="300"/>
              </a:spcAft>
              <a:buSzPct val="100000"/>
              <a:buChar char="•"/>
            </a:pPr>
            <a:r>
              <a:rPr lang="en-US" sz="1100" dirty="0">
                <a:solidFill>
                  <a:schemeClr val="tx1"/>
                </a:solidFill>
              </a:rPr>
              <a:t>AI applications need databases to store information, retrieve records and support analytics</a:t>
            </a:r>
            <a:endParaRPr lang="en-US" sz="1400" dirty="0"/>
          </a:p>
          <a:p>
            <a:pPr marL="190500" indent="-190500">
              <a:spcAft>
                <a:spcPts val="300"/>
              </a:spcAft>
              <a:buSzPct val="100000"/>
              <a:buChar char="•"/>
            </a:pPr>
            <a:r>
              <a:rPr lang="en-US" sz="1100" dirty="0">
                <a:solidFill>
                  <a:schemeClr val="tx1"/>
                </a:solidFill>
              </a:rPr>
              <a:t>Used through application code, SQL queries and integrations; vector-search features depend on version and product</a:t>
            </a:r>
            <a:endParaRPr lang="en-US" sz="1400" dirty="0"/>
          </a:p>
        </p:txBody>
      </p:sp>
      <p:sp>
        <p:nvSpPr>
          <p:cNvPr id="5" name="Text 3"/>
          <p:cNvSpPr/>
          <p:nvPr/>
        </p:nvSpPr>
        <p:spPr>
          <a:xfrm>
            <a:off x="6035040" y="1051560"/>
            <a:ext cx="2651760" cy="219456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Improved security</a:t>
            </a:r>
            <a:endParaRPr lang="en-US" sz="1400" dirty="0"/>
          </a:p>
          <a:p>
            <a:pPr marL="190500" indent="-190500">
              <a:spcAft>
                <a:spcPts val="200"/>
              </a:spcAft>
              <a:buSzPct val="100000"/>
              <a:buChar char="•"/>
            </a:pPr>
            <a:r>
              <a:rPr lang="en-US" sz="1100" dirty="0">
                <a:solidFill>
                  <a:schemeClr val="tx1"/>
                </a:solidFill>
              </a:rPr>
              <a:t>Strong authentication; least-privilege access</a:t>
            </a:r>
            <a:endParaRPr lang="en-US" sz="1400" dirty="0"/>
          </a:p>
          <a:p>
            <a:pPr marL="190500" indent="-190500">
              <a:spcAft>
                <a:spcPts val="200"/>
              </a:spcAft>
              <a:buSzPct val="100000"/>
              <a:buChar char="•"/>
            </a:pPr>
            <a:r>
              <a:rPr lang="en-US" sz="1100" dirty="0">
                <a:solidFill>
                  <a:schemeClr val="tx1"/>
                </a:solidFill>
              </a:rPr>
              <a:t>Encryption in transit and, where configured, at rest</a:t>
            </a:r>
            <a:endParaRPr lang="en-US" sz="1400" dirty="0"/>
          </a:p>
          <a:p>
            <a:pPr marL="190500" indent="-190500">
              <a:spcAft>
                <a:spcPts val="200"/>
              </a:spcAft>
              <a:buSzPct val="100000"/>
              <a:buChar char="•"/>
            </a:pPr>
            <a:r>
              <a:rPr lang="en-US" sz="1100" dirty="0">
                <a:solidFill>
                  <a:schemeClr val="tx1"/>
                </a:solidFill>
              </a:rPr>
              <a:t>Security updates and auditing; secure backups</a:t>
            </a:r>
            <a:endParaRPr lang="en-US" sz="1400" dirty="0"/>
          </a:p>
          <a:p>
            <a:pPr marL="190500" indent="-190500">
              <a:spcAft>
                <a:spcPts val="200"/>
              </a:spcAft>
              <a:buSzPct val="100000"/>
              <a:buChar char="•"/>
            </a:pPr>
            <a:r>
              <a:rPr lang="en-US" sz="1100" dirty="0">
                <a:solidFill>
                  <a:schemeClr val="tx1"/>
                </a:solidFill>
              </a:rPr>
              <a:t>Protects against unauthorized access and accidental loss</a:t>
            </a:r>
            <a:endParaRPr lang="en-US" sz="1400" dirty="0"/>
          </a:p>
        </p:txBody>
      </p:sp>
      <p:sp>
        <p:nvSpPr>
          <p:cNvPr id="6" name="Text 4"/>
          <p:cNvSpPr/>
          <p:nvPr/>
        </p:nvSpPr>
        <p:spPr>
          <a:xfrm>
            <a:off x="457200" y="3291840"/>
            <a:ext cx="4023360" cy="118872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Better scalability</a:t>
            </a:r>
            <a:endParaRPr lang="en-US" sz="1400" dirty="0"/>
          </a:p>
          <a:p>
            <a:pPr marL="190500" indent="-190500">
              <a:spcAft>
                <a:spcPts val="200"/>
              </a:spcAft>
              <a:buSzPct val="100000"/>
              <a:buChar char="•"/>
            </a:pPr>
            <a:r>
              <a:rPr lang="en-US" sz="1100" dirty="0">
                <a:solidFill>
                  <a:schemeClr val="tx1"/>
                </a:solidFill>
              </a:rPr>
              <a:t>Read replicas, clustering, distributed architectures and sharding handle larger workloads</a:t>
            </a:r>
            <a:endParaRPr lang="en-US" sz="1400" dirty="0"/>
          </a:p>
          <a:p>
            <a:pPr marL="190500" indent="-190500">
              <a:spcAft>
                <a:spcPts val="200"/>
              </a:spcAft>
              <a:buSzPct val="100000"/>
              <a:buChar char="•"/>
            </a:pPr>
            <a:r>
              <a:rPr lang="en-US" sz="1100" dirty="0">
                <a:solidFill>
                  <a:schemeClr val="tx1"/>
                </a:solidFill>
              </a:rPr>
              <a:t>Each has different consistency, complexity and cost trade-offs</a:t>
            </a:r>
            <a:endParaRPr lang="en-US" sz="1400" dirty="0"/>
          </a:p>
        </p:txBody>
      </p:sp>
      <p:sp>
        <p:nvSpPr>
          <p:cNvPr id="7" name="Text 5"/>
          <p:cNvSpPr/>
          <p:nvPr/>
        </p:nvSpPr>
        <p:spPr>
          <a:xfrm>
            <a:off x="4663440" y="3291840"/>
            <a:ext cx="4023360" cy="1188720"/>
          </a:xfrm>
          <a:prstGeom prst="rect">
            <a:avLst/>
          </a:prstGeom>
          <a:solidFill>
            <a:schemeClr val="bg2"/>
          </a:solidFill>
          <a:ln/>
        </p:spPr>
        <p:txBody>
          <a:bodyPr wrap="square" lIns="114300" tIns="114300" rIns="114300" bIns="114300" rtlCol="0" anchor="t"/>
          <a:lstStyle/>
          <a:p>
            <a:pPr indent="0" marL="0">
              <a:spcAft>
                <a:spcPts val="600"/>
              </a:spcAft>
              <a:buNone/>
            </a:pPr>
            <a:r>
              <a:rPr lang="en-US" sz="1400" b="1" dirty="0">
                <a:solidFill>
                  <a:schemeClr val="tx2"/>
                </a:solidFill>
              </a:rPr>
              <a:t>Advanced analytics</a:t>
            </a:r>
            <a:endParaRPr lang="en-US" sz="1400" dirty="0"/>
          </a:p>
          <a:p>
            <a:pPr marL="190500" indent="-190500">
              <a:spcAft>
                <a:spcPts val="200"/>
              </a:spcAft>
              <a:buSzPct val="100000"/>
              <a:buChar char="•"/>
            </a:pPr>
            <a:r>
              <a:rPr lang="en-US" sz="1100" dirty="0">
                <a:solidFill>
                  <a:schemeClr val="tx1"/>
                </a:solidFill>
              </a:rPr>
              <a:t>Databases increasingly support analytical queries, business intelligence and reporting</a:t>
            </a:r>
            <a:endParaRPr lang="en-US" sz="1400" dirty="0"/>
          </a:p>
          <a:p>
            <a:pPr marL="190500" indent="-190500">
              <a:spcAft>
                <a:spcPts val="200"/>
              </a:spcAft>
              <a:buSzPct val="100000"/>
              <a:buChar char="•"/>
            </a:pPr>
            <a:r>
              <a:rPr lang="en-US" sz="1100" dirty="0">
                <a:solidFill>
                  <a:schemeClr val="tx1"/>
                </a:solidFill>
              </a:rPr>
              <a:t>MariaDB can take part, depending on engine, configuration and query requirements</a:t>
            </a:r>
            <a:endParaRPr lang="en-US" sz="1400" dirty="0"/>
          </a:p>
        </p:txBody>
      </p:sp>
      <p:sp>
        <p:nvSpPr>
          <p:cNvPr id="8" name="Text 6"/>
          <p:cNvSpPr txBox="1"/>
          <p:nvPr/>
        </p:nvSpPr>
        <p:spPr>
          <a:xfrm>
            <a:off x="457200" y="4526280"/>
            <a:ext cx="8229600" cy="320040"/>
          </a:xfrm>
          <a:prstGeom prst="rect">
            <a:avLst/>
          </a:prstGeom>
          <a:noFill/>
          <a:ln/>
        </p:spPr>
        <p:txBody>
          <a:bodyPr wrap="square" lIns="50800" tIns="50800" rIns="50800" bIns="50800" rtlCol="0" anchor="ctr"/>
          <a:lstStyle/>
          <a:p>
            <a:pPr indent="0" marL="0">
              <a:buNone/>
            </a:pPr>
            <a:r>
              <a:rPr lang="en-US" sz="1100" dirty="0">
                <a:solidFill>
                  <a:schemeClr val="tx1"/>
                </a:solidFill>
              </a:rPr>
              <a:t>Main idea: future database development focuses on making data systems more scalable, secure, cloud-friendly, and useful for analytics and AI.</a:t>
            </a:r>
            <a:endParaRPr lang="en-US" sz="11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nchor="ctr"/>
          <a:lstStyle/>
          <a:p>
            <a:pPr algn="l" indent="0" marL="0">
              <a:buNone/>
            </a:pPr>
            <a:r>
              <a:rPr lang="en-US" sz="3000" b="1" dirty="0">
                <a:solidFill>
                  <a:schemeClr val="tx2"/>
                </a:solidFill>
              </a:rPr>
              <a:t>Conclusion</a:t>
            </a:r>
            <a:endParaRPr lang="en-US" sz="3000" dirty="0"/>
          </a:p>
        </p:txBody>
      </p:sp>
      <p:sp>
        <p:nvSpPr>
          <p:cNvPr id="3" name="Text 1"/>
          <p:cNvSpPr/>
          <p:nvPr/>
        </p:nvSpPr>
        <p:spPr>
          <a:xfrm>
            <a:off x="457200" y="1051560"/>
            <a:ext cx="4023360" cy="2331720"/>
          </a:xfrm>
          <a:prstGeom prst="rect">
            <a:avLst/>
          </a:prstGeom>
          <a:solidFill>
            <a:schemeClr val="bg2"/>
          </a:solidFill>
          <a:ln/>
        </p:spPr>
        <p:txBody>
          <a:bodyPr wrap="square" lIns="114300" tIns="114300" rIns="114300" bIns="114300" rtlCol="0" anchor="t"/>
          <a:lstStyle/>
          <a:p>
            <a:pPr indent="0" marL="0">
              <a:spcAft>
                <a:spcPts val="600"/>
              </a:spcAft>
              <a:buNone/>
            </a:pPr>
            <a:r>
              <a:rPr lang="en-US" sz="1500" b="1" dirty="0">
                <a:solidFill>
                  <a:schemeClr val="tx2"/>
                </a:solidFill>
              </a:rPr>
              <a:t>MariaDB at a glance</a:t>
            </a:r>
            <a:endParaRPr lang="en-US" sz="1500" dirty="0"/>
          </a:p>
          <a:p>
            <a:pPr marL="190500" indent="-190500">
              <a:spcAft>
                <a:spcPts val="300"/>
              </a:spcAft>
              <a:buSzPct val="100000"/>
              <a:buChar char="•"/>
            </a:pPr>
            <a:r>
              <a:rPr lang="en-US" sz="1200" dirty="0">
                <a:solidFill>
                  <a:schemeClr val="tx1"/>
                </a:solidFill>
              </a:rPr>
              <a:t>Open-source relational database management system created in 2009 as a fork of MySQL</a:t>
            </a:r>
            <a:endParaRPr lang="en-US" sz="1500" dirty="0"/>
          </a:p>
          <a:p>
            <a:pPr marL="190500" indent="-190500">
              <a:spcAft>
                <a:spcPts val="300"/>
              </a:spcAft>
              <a:buSzPct val="100000"/>
              <a:buChar char="•"/>
            </a:pPr>
            <a:r>
              <a:rPr lang="en-US" sz="1200" dirty="0">
                <a:solidFill>
                  <a:schemeClr val="tx1"/>
                </a:solidFill>
              </a:rPr>
              <a:t>Organizes data into tables and uses SQL to create, retrieve, modify, and manage information</a:t>
            </a:r>
            <a:endParaRPr lang="en-US" sz="1500" dirty="0"/>
          </a:p>
          <a:p>
            <a:pPr marL="190500" indent="-190500">
              <a:spcAft>
                <a:spcPts val="300"/>
              </a:spcAft>
              <a:buSzPct val="100000"/>
              <a:buChar char="•"/>
            </a:pPr>
            <a:r>
              <a:rPr lang="en-US" sz="1200" dirty="0">
                <a:solidFill>
                  <a:schemeClr val="tx1"/>
                </a:solidFill>
              </a:rPr>
              <a:t>Client–server architecture: applications send queries to a server, which works with storage engines to access data</a:t>
            </a:r>
            <a:endParaRPr lang="en-US" sz="1500" dirty="0"/>
          </a:p>
        </p:txBody>
      </p:sp>
      <p:sp>
        <p:nvSpPr>
          <p:cNvPr id="4" name="Text 2"/>
          <p:cNvSpPr/>
          <p:nvPr/>
        </p:nvSpPr>
        <p:spPr>
          <a:xfrm>
            <a:off x="4663440" y="1051560"/>
            <a:ext cx="4023360" cy="2331720"/>
          </a:xfrm>
          <a:prstGeom prst="rect">
            <a:avLst/>
          </a:prstGeom>
          <a:solidFill>
            <a:schemeClr val="bg2"/>
          </a:solidFill>
          <a:ln/>
        </p:spPr>
        <p:txBody>
          <a:bodyPr wrap="square" lIns="114300" tIns="114300" rIns="114300" bIns="114300" rtlCol="0" anchor="t"/>
          <a:lstStyle/>
          <a:p>
            <a:pPr indent="0" marL="0">
              <a:spcAft>
                <a:spcPts val="600"/>
              </a:spcAft>
              <a:buNone/>
            </a:pPr>
            <a:r>
              <a:rPr lang="en-US" sz="1500" b="1" dirty="0">
                <a:solidFill>
                  <a:schemeClr val="tx2"/>
                </a:solidFill>
              </a:rPr>
              <a:t>Main capabilities</a:t>
            </a:r>
            <a:endParaRPr lang="en-US" sz="1500" dirty="0"/>
          </a:p>
          <a:p>
            <a:pPr marL="190500" indent="-190500">
              <a:spcAft>
                <a:spcPts val="200"/>
              </a:spcAft>
              <a:buSzPct val="100000"/>
              <a:buChar char="•"/>
            </a:pPr>
            <a:r>
              <a:rPr lang="en-US" sz="1200" dirty="0">
                <a:solidFill>
                  <a:schemeClr val="tx1"/>
                </a:solidFill>
              </a:rPr>
              <a:t>Relational tables, keys, constraints, and SQL</a:t>
            </a:r>
            <a:endParaRPr lang="en-US" sz="1500" dirty="0"/>
          </a:p>
          <a:p>
            <a:pPr marL="190500" indent="-190500">
              <a:spcAft>
                <a:spcPts val="200"/>
              </a:spcAft>
              <a:buSzPct val="100000"/>
              <a:buChar char="•"/>
            </a:pPr>
            <a:r>
              <a:rPr lang="en-US" sz="1200" dirty="0">
                <a:solidFill>
                  <a:schemeClr val="tx1"/>
                </a:solidFill>
              </a:rPr>
              <a:t>Storage engines such as InnoDB, MyISAM, and Aria</a:t>
            </a:r>
            <a:endParaRPr lang="en-US" sz="1500" dirty="0"/>
          </a:p>
          <a:p>
            <a:pPr marL="190500" indent="-190500">
              <a:spcAft>
                <a:spcPts val="200"/>
              </a:spcAft>
              <a:buSzPct val="100000"/>
              <a:buChar char="•"/>
            </a:pPr>
            <a:r>
              <a:rPr lang="en-US" sz="1200" dirty="0">
                <a:solidFill>
                  <a:schemeClr val="tx1"/>
                </a:solidFill>
              </a:rPr>
              <a:t>Indexing and query optimization</a:t>
            </a:r>
            <a:endParaRPr lang="en-US" sz="1500" dirty="0"/>
          </a:p>
          <a:p>
            <a:pPr marL="190500" indent="-190500">
              <a:spcAft>
                <a:spcPts val="200"/>
              </a:spcAft>
              <a:buSzPct val="100000"/>
              <a:buChar char="•"/>
            </a:pPr>
            <a:r>
              <a:rPr lang="en-US" sz="1200" dirty="0">
                <a:solidFill>
                  <a:schemeClr val="tx1"/>
                </a:solidFill>
              </a:rPr>
              <a:t>ACID transactions with suitable engines</a:t>
            </a:r>
            <a:endParaRPr lang="en-US" sz="1500" dirty="0"/>
          </a:p>
          <a:p>
            <a:pPr marL="190500" indent="-190500">
              <a:spcAft>
                <a:spcPts val="200"/>
              </a:spcAft>
              <a:buSzPct val="100000"/>
              <a:buChar char="•"/>
            </a:pPr>
            <a:r>
              <a:rPr lang="en-US" sz="1200" dirty="0">
                <a:solidFill>
                  <a:schemeClr val="tx1"/>
                </a:solidFill>
              </a:rPr>
              <a:t>Replication and clustering options</a:t>
            </a:r>
            <a:endParaRPr lang="en-US" sz="1500" dirty="0"/>
          </a:p>
          <a:p>
            <a:pPr marL="190500" indent="-190500">
              <a:spcAft>
                <a:spcPts val="200"/>
              </a:spcAft>
              <a:buSzPct val="100000"/>
              <a:buChar char="•"/>
            </a:pPr>
            <a:r>
              <a:rPr lang="en-US" sz="1200" dirty="0">
                <a:solidFill>
                  <a:schemeClr val="tx1"/>
                </a:solidFill>
              </a:rPr>
              <a:t>Stored procedures, triggers, and JSON functions</a:t>
            </a:r>
            <a:endParaRPr lang="en-US" sz="1500" dirty="0"/>
          </a:p>
          <a:p>
            <a:pPr marL="190500" indent="-190500">
              <a:spcAft>
                <a:spcPts val="200"/>
              </a:spcAft>
              <a:buSzPct val="100000"/>
              <a:buChar char="•"/>
            </a:pPr>
            <a:r>
              <a:rPr lang="en-US" sz="1200" dirty="0">
                <a:solidFill>
                  <a:schemeClr val="tx1"/>
                </a:solidFill>
              </a:rPr>
              <a:t>Uses from student databases to e-commerce and production systems</a:t>
            </a:r>
            <a:endParaRPr lang="en-US" sz="1500" dirty="0"/>
          </a:p>
        </p:txBody>
      </p:sp>
      <p:sp>
        <p:nvSpPr>
          <p:cNvPr id="5" name="Text 3"/>
          <p:cNvSpPr txBox="1"/>
          <p:nvPr/>
        </p:nvSpPr>
        <p:spPr>
          <a:xfrm>
            <a:off x="457200" y="3520440"/>
            <a:ext cx="8229600" cy="1280160"/>
          </a:xfrm>
          <a:prstGeom prst="rect">
            <a:avLst/>
          </a:prstGeom>
          <a:noFill/>
          <a:ln/>
        </p:spPr>
        <p:txBody>
          <a:bodyPr wrap="square" lIns="50800" tIns="50800" rIns="50800" bIns="50800" rtlCol="0" anchor="t"/>
          <a:lstStyle/>
          <a:p>
            <a:pPr marL="190500" indent="-190500">
              <a:spcAft>
                <a:spcPts val="500"/>
              </a:spcAft>
              <a:buSzPct val="100000"/>
              <a:buChar char="•"/>
            </a:pPr>
            <a:r>
              <a:rPr lang="en-US" sz="1400" b="1" dirty="0">
                <a:solidFill>
                  <a:schemeClr val="tx1"/>
                </a:solidFill>
              </a:rPr>
              <a:t>Major advantages: </a:t>
            </a:r>
            <a:pPr indent="0" marL="0">
              <a:spcAft>
                <a:spcPts val="500"/>
              </a:spcAft>
              <a:buNone/>
            </a:pPr>
            <a:r>
              <a:rPr lang="en-US" sz="1400" dirty="0">
                <a:solidFill>
                  <a:schemeClr val="tx1"/>
                </a:solidFill>
              </a:rPr>
              <a:t>open-source options, compatibility with many MySQL applications, and flexible architecture</a:t>
            </a:r>
            <a:endParaRPr lang="en-US" sz="1400" dirty="0"/>
          </a:p>
          <a:p>
            <a:pPr marL="190500" indent="-190500">
              <a:spcAft>
                <a:spcPts val="500"/>
              </a:spcAft>
              <a:buSzPct val="100000"/>
              <a:buChar char="•"/>
            </a:pPr>
            <a:r>
              <a:rPr lang="en-US" sz="1400" b="1" dirty="0">
                <a:solidFill>
                  <a:schemeClr val="tx1"/>
                </a:solidFill>
              </a:rPr>
              <a:t>Practical challenges: </a:t>
            </a:r>
            <a:pPr indent="0" marL="0">
              <a:spcAft>
                <a:spcPts val="500"/>
              </a:spcAft>
              <a:buNone/>
            </a:pPr>
            <a:r>
              <a:rPr lang="en-US" sz="1400" dirty="0">
                <a:solidFill>
                  <a:schemeClr val="tx1"/>
                </a:solidFill>
              </a:rPr>
              <a:t>configuration, performance tuning, migration differences, and advanced cluster management</a:t>
            </a:r>
            <a:endParaRPr lang="en-US" sz="1400" dirty="0"/>
          </a:p>
          <a:p>
            <a:pPr marL="190500" indent="-190500">
              <a:spcAft>
                <a:spcPts val="500"/>
              </a:spcAft>
              <a:buSzPct val="100000"/>
              <a:buChar char="•"/>
            </a:pPr>
            <a:r>
              <a:rPr lang="en-US" sz="1400" b="1" dirty="0">
                <a:solidFill>
                  <a:schemeClr val="tx1"/>
                </a:solidFill>
              </a:rPr>
              <a:t>The right choice </a:t>
            </a:r>
            <a:pPr indent="0" marL="0">
              <a:spcAft>
                <a:spcPts val="500"/>
              </a:spcAft>
              <a:buNone/>
            </a:pPr>
            <a:r>
              <a:rPr lang="en-US" sz="1400" dirty="0">
                <a:solidFill>
                  <a:schemeClr val="tx1"/>
                </a:solidFill>
              </a:rPr>
              <a:t>depends on an application's requirements, workload, security needs, operational resources, and budget</a:t>
            </a:r>
            <a:endParaRPr lang="en-US" sz="1400" dirty="0"/>
          </a:p>
        </p:txBody>
      </p:sp>
      <p:sp>
        <p:nvSpPr>
          <p:cNvPr id="25" name="Slide Number Placeholder 0"/>
          <p:cNvSpPr>
            <a:spLocks noGrp="1"/>
          </p:cNvSpPr>
          <p:nvPr>
            <p:ph type="sldNum" sz="quarter" idx="4294967295"/>
          </p:nvPr>
        </p:nvSpPr>
        <p:spPr>
          <a:xfrm>
            <a:off x="8229600" y="48006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MariaDB Plain">
  <a:themeElements>
    <a:clrScheme name="MariaDB Plain">
      <a:dk1>
        <a:srgbClr val="1F2933"/>
      </a:dk1>
      <a:lt1>
        <a:srgbClr val="FFFFFF"/>
      </a:lt1>
      <a:dk2>
        <a:srgbClr val="003545"/>
      </a:dk2>
      <a:lt2>
        <a:srgbClr val="EEF3F5"/>
      </a:lt2>
      <a:accent1>
        <a:srgbClr val="C0765A"/>
      </a:accent1>
      <a:accent2>
        <a:srgbClr val="003545"/>
      </a:accent2>
      <a:accent3>
        <a:srgbClr val="4A7C8C"/>
      </a:accent3>
      <a:accent4>
        <a:srgbClr val="8FB3BF"/>
      </a:accent4>
      <a:accent5>
        <a:srgbClr val="7A8B94"/>
      </a:accent5>
      <a:accent6>
        <a:srgbClr val="D9A441"/>
      </a:accent6>
      <a:hlink>
        <a:srgbClr val="0563C1"/>
      </a:hlink>
      <a:folHlink>
        <a:srgbClr val="954F72"/>
      </a:folHlink>
    </a:clrScheme>
    <a:fontScheme name="MariaDB Pla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MariaDB Database Management System - Case Study</dc:title>
  <dc:subject>PptxGenJS Presentation</dc:subject>
  <dc:creator>PptxGenJS</dc:creator>
  <cp:lastModifiedBy>PptxGenJS</cp:lastModifiedBy>
  <cp:revision>1</cp:revision>
  <dcterms:created xsi:type="dcterms:W3CDTF">2026-10-25T18:59:55Z</dcterms:created>
  <dcterms:modified xsi:type="dcterms:W3CDTF">2026-10-25T18:59:55Z</dcterms:modified>
</cp:coreProperties>
</file>